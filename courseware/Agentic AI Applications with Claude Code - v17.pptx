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25" r:id="rId76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320" r:id="rId71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323" r:id="rId74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21" r:id="rId72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5" r:id="rId61"/>
    <p:sldId id="324" r:id="rId75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1.xml"/><Relationship Id="rId21" Type="http://schemas.openxmlformats.org/officeDocument/2006/relationships/slide" Target="slides/slide22.xml"/><Relationship Id="rId22" Type="http://schemas.openxmlformats.org/officeDocument/2006/relationships/slide" Target="slides/slide23.xml"/><Relationship Id="rId23" Type="http://schemas.openxmlformats.org/officeDocument/2006/relationships/slide" Target="slides/slide24.xml"/><Relationship Id="rId24" Type="http://schemas.openxmlformats.org/officeDocument/2006/relationships/slide" Target="slides/slide25.xml"/><Relationship Id="rId25" Type="http://schemas.openxmlformats.org/officeDocument/2006/relationships/slide" Target="slides/slide26.xml"/><Relationship Id="rId26" Type="http://schemas.openxmlformats.org/officeDocument/2006/relationships/slide" Target="slides/slide27.xml"/><Relationship Id="rId27" Type="http://schemas.openxmlformats.org/officeDocument/2006/relationships/slide" Target="slides/slide28.xml"/><Relationship Id="rId28" Type="http://schemas.openxmlformats.org/officeDocument/2006/relationships/slide" Target="slides/slide29.xml"/><Relationship Id="rId29" Type="http://schemas.openxmlformats.org/officeDocument/2006/relationships/slide" Target="slides/slide30.xml"/><Relationship Id="rId30" Type="http://schemas.openxmlformats.org/officeDocument/2006/relationships/slide" Target="slides/slide31.xml"/><Relationship Id="rId31" Type="http://schemas.openxmlformats.org/officeDocument/2006/relationships/slide" Target="slides/slide32.xml"/><Relationship Id="rId32" Type="http://schemas.openxmlformats.org/officeDocument/2006/relationships/slide" Target="slides/slide33.xml"/><Relationship Id="rId33" Type="http://schemas.openxmlformats.org/officeDocument/2006/relationships/slide" Target="slides/slide34.xml"/><Relationship Id="rId34" Type="http://schemas.openxmlformats.org/officeDocument/2006/relationships/slide" Target="slides/slide35.xml"/><Relationship Id="rId35" Type="http://schemas.openxmlformats.org/officeDocument/2006/relationships/slide" Target="slides/slide36.xml"/><Relationship Id="rId36" Type="http://schemas.openxmlformats.org/officeDocument/2006/relationships/slide" Target="slides/slide37.xml"/><Relationship Id="rId37" Type="http://schemas.openxmlformats.org/officeDocument/2006/relationships/slide" Target="slides/slide38.xml"/><Relationship Id="rId38" Type="http://schemas.openxmlformats.org/officeDocument/2006/relationships/slide" Target="slides/slide39.xml"/><Relationship Id="rId39" Type="http://schemas.openxmlformats.org/officeDocument/2006/relationships/slide" Target="slides/slide40.xml"/><Relationship Id="rId40" Type="http://schemas.openxmlformats.org/officeDocument/2006/relationships/slide" Target="slides/slide41.xml"/><Relationship Id="rId41" Type="http://schemas.openxmlformats.org/officeDocument/2006/relationships/slide" Target="slides/slide42.xml"/><Relationship Id="rId42" Type="http://schemas.openxmlformats.org/officeDocument/2006/relationships/slide" Target="slides/slide44.xml"/><Relationship Id="rId43" Type="http://schemas.openxmlformats.org/officeDocument/2006/relationships/slide" Target="slides/slide45.xml"/><Relationship Id="rId44" Type="http://schemas.openxmlformats.org/officeDocument/2006/relationships/slide" Target="slides/slide46.xml"/><Relationship Id="rId45" Type="http://schemas.openxmlformats.org/officeDocument/2006/relationships/slide" Target="slides/slide47.xml"/><Relationship Id="rId46" Type="http://schemas.openxmlformats.org/officeDocument/2006/relationships/slide" Target="slides/slide48.xml"/><Relationship Id="rId47" Type="http://schemas.openxmlformats.org/officeDocument/2006/relationships/slide" Target="slides/slide49.xml"/><Relationship Id="rId48" Type="http://schemas.openxmlformats.org/officeDocument/2006/relationships/slide" Target="slides/slide50.xml"/><Relationship Id="rId49" Type="http://schemas.openxmlformats.org/officeDocument/2006/relationships/slide" Target="slides/slide51.xml"/><Relationship Id="rId50" Type="http://schemas.openxmlformats.org/officeDocument/2006/relationships/slide" Target="slides/slide52.xml"/><Relationship Id="rId51" Type="http://schemas.openxmlformats.org/officeDocument/2006/relationships/slide" Target="slides/slide54.xml"/><Relationship Id="rId52" Type="http://schemas.openxmlformats.org/officeDocument/2006/relationships/slide" Target="slides/slide55.xml"/><Relationship Id="rId53" Type="http://schemas.openxmlformats.org/officeDocument/2006/relationships/slide" Target="slides/slide56.xml"/><Relationship Id="rId54" Type="http://schemas.openxmlformats.org/officeDocument/2006/relationships/slide" Target="slides/slide57.xml"/><Relationship Id="rId55" Type="http://schemas.openxmlformats.org/officeDocument/2006/relationships/slide" Target="slides/slide58.xml"/><Relationship Id="rId56" Type="http://schemas.openxmlformats.org/officeDocument/2006/relationships/slide" Target="slides/slide59.xml"/><Relationship Id="rId57" Type="http://schemas.openxmlformats.org/officeDocument/2006/relationships/slide" Target="slides/slide60.xml"/><Relationship Id="rId58" Type="http://schemas.openxmlformats.org/officeDocument/2006/relationships/slide" Target="slides/slide61.xml"/><Relationship Id="rId61" Type="http://schemas.openxmlformats.org/officeDocument/2006/relationships/slide" Target="slides/slide62.xml"/><Relationship Id="rId62" Type="http://schemas.openxmlformats.org/officeDocument/2006/relationships/slide" Target="slides/slide64.xml"/><Relationship Id="rId63" Type="http://schemas.openxmlformats.org/officeDocument/2006/relationships/slide" Target="slides/slide65.xml"/><Relationship Id="rId64" Type="http://schemas.openxmlformats.org/officeDocument/2006/relationships/slide" Target="slides/slide67.xml"/><Relationship Id="rId65" Type="http://schemas.openxmlformats.org/officeDocument/2006/relationships/slide" Target="slides/slide68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Relationship Id="rId71" Type="http://schemas.openxmlformats.org/officeDocument/2006/relationships/slide" Target="slides/slide20.xml"/><Relationship Id="rId72" Type="http://schemas.openxmlformats.org/officeDocument/2006/relationships/slide" Target="slides/slide53.xml"/><Relationship Id="rId74" Type="http://schemas.openxmlformats.org/officeDocument/2006/relationships/slide" Target="slides/slide43.xml"/><Relationship Id="rId75" Type="http://schemas.openxmlformats.org/officeDocument/2006/relationships/slide" Target="slides/slide63.xml"/><Relationship Id="rId76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hyperlink" Target="https://www.linkedin.com/in/angchewhoe/" TargetMode="External"/><Relationship Id="rId8" Type="http://schemas.openxmlformats.org/officeDocument/2006/relationships/image" Target="../media/image-4-7.png"/><Relationship Id="rId9" Type="http://schemas.openxmlformats.org/officeDocument/2006/relationships/hyperlink" Target="https://github.com/alfredang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Relationship Id="rId6" Type="http://schemas.openxmlformats.org/officeDocument/2006/relationships/image" Target="../media/image-11-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Relationship Id="rId8" Type="http://schemas.openxmlformats.org/officeDocument/2006/relationships/image" Target="../media/image-13-6.png"/><Relationship Id="rId9" Type="http://schemas.openxmlformats.org/officeDocument/2006/relationships/image" Target="../media/image-13-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Relationship Id="rId7" Type="http://schemas.openxmlformats.org/officeDocument/2006/relationships/image" Target="../media/image-23-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image" Target="../media/image-62-6.png"/><Relationship Id="rId7" Type="http://schemas.openxmlformats.org/officeDocument/2006/relationships/image" Target="../media/image-62-7.png"/><Relationship Id="rId8" Type="http://schemas.openxmlformats.org/officeDocument/2006/relationships/image" Target="../media/image-62-8.png"/><Relationship Id="rId9" Type="http://schemas.openxmlformats.org/officeDocument/2006/relationships/image" Target="../media/image-6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WSQ COURSE  •  TGS-2025052468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 Applications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Claude Code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Infotech Academy Pte Ltd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UEN: 201200696W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www.tertiarycourses.com.sg   |   enquiry@tertiaryinfotech.com   |   +65 6100 0613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778875" y="1371600"/>
            <a:ext cx="28641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17.0  ·  9 Sep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62495" y="6355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874520"/>
            <a:ext cx="6583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is mandatory for SSG funding.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AM, PM and Assessment digital attendance for every session.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SSG / TMS QR code provided by your trainer.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0" y="18288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0" y="23774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 required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Trainer Name ]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Title / Role ]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Qualifications:  ____________________________________________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206240" y="2670048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9349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 _________________________________________________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206240" y="351129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634740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Experience:  ________________________________________________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206240" y="43525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475988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Profile:  __________________________________________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Trainer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Alfred Ang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Trainer &amp; Engineer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206240" y="18288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684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17830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PhD-qualified trainer specialising in AI, software engineering and developer tooling.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206240" y="2633472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84" y="2756916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258775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building agentic AI applications with Claude Code.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206240" y="3438144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684" y="356158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892040" y="339242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professionals across Singapore on practical, project-based AI skills.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206240" y="4242816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684" y="4366260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892040" y="419709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Certifications: PMP, AWS, Microsoft, CompTIA, CKA, CKAD.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420624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5207508"/>
            <a:ext cx="274320" cy="274320"/>
          </a:xfrm>
          <a:prstGeom prst="rect">
            <a:avLst/>
          </a:prstGeom>
        </p:spPr>
      </p:pic>
      <p:sp>
        <p:nvSpPr>
          <p:cNvPr id="23" name="Text 15">
            <a:hlinkClick r:id="rId7" tooltip=""/>
          </p:cNvPr>
          <p:cNvSpPr/>
          <p:nvPr/>
        </p:nvSpPr>
        <p:spPr>
          <a:xfrm>
            <a:off x="4892040" y="5047488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linkedin.com/in/angchewhoe</a:t>
            </a:r>
            <a:endParaRPr lang="en-US" sz="1500" dirty="0"/>
          </a:p>
        </p:txBody>
      </p:sp>
      <p:sp>
        <p:nvSpPr>
          <p:cNvPr id="24" name="Shape 16"/>
          <p:cNvSpPr/>
          <p:nvPr/>
        </p:nvSpPr>
        <p:spPr>
          <a:xfrm>
            <a:off x="8229600" y="5093208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5207508"/>
            <a:ext cx="274320" cy="274320"/>
          </a:xfrm>
          <a:prstGeom prst="rect">
            <a:avLst/>
          </a:prstGeom>
        </p:spPr>
      </p:pic>
      <p:sp>
        <p:nvSpPr>
          <p:cNvPr id="26" name="Text 17">
            <a:hlinkClick r:id="rId9" tooltip=""/>
          </p:cNvPr>
          <p:cNvSpPr/>
          <p:nvPr/>
        </p:nvSpPr>
        <p:spPr>
          <a:xfrm>
            <a:off x="8915400" y="504748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github.com/alfredang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Know Each Other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minute to introduce yourself to the class: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51660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8820" y="402336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&amp; role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593592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22292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402336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 day to day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64224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92924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084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01384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coding experience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134856" y="36576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0163556" y="38862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4023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457200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want from this course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Phones on silent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out quietly for calls or breaks.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Participate actively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question is stupid — ask freely.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respect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disagree; one conversation at a time.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 punctual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from breaks on time.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attendance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funding eligibility.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hands-on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with every activity.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Outline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the Agentic Loop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Memory &amp; Sessions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&amp; Scheduled Tasks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&amp; deploy a website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99432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Activities: /gitpush + MCP screenshot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737360"/>
            <a:ext cx="3593592" cy="4206240"/>
          </a:xfrm>
          <a:prstGeom prst="roundRect">
            <a:avLst>
              <a:gd name="adj" fmla="val 20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375904" y="2011680"/>
            <a:ext cx="731520" cy="73152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3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·  HANDS-ON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Materials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8988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labs, each in its own folder. They build on one another — Lab 1 creates the website that every later lab extends.</a:t>
            </a:r>
          </a:p>
        </p:txBody>
      </p:sp>
      <p:sp>
        <p:nvSpPr>
          <p:cNvPr id="16" name="Card0"/>
          <p:cNvSpPr/>
          <p:nvPr/>
        </p:nvSpPr>
        <p:spPr>
          <a:xfrm>
            <a:off x="548640" y="1965960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0"/>
          <p:cNvSpPr/>
          <p:nvPr/>
        </p:nvSpPr>
        <p:spPr>
          <a:xfrm>
            <a:off x="749808" y="2167128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Lab0"/>
          <p:cNvSpPr/>
          <p:nvPr/>
        </p:nvSpPr>
        <p:spPr>
          <a:xfrm>
            <a:off x="9601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</a:p>
        </p:txBody>
      </p:sp>
      <p:sp>
        <p:nvSpPr>
          <p:cNvPr id="22" name="Pill0"/>
          <p:cNvSpPr/>
          <p:nvPr/>
        </p:nvSpPr>
        <p:spPr>
          <a:xfrm>
            <a:off x="960120" y="2478024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Topic0"/>
          <p:cNvSpPr/>
          <p:nvPr/>
        </p:nvSpPr>
        <p:spPr>
          <a:xfrm>
            <a:off x="960120" y="2478024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</a:p>
        </p:txBody>
      </p:sp>
      <p:sp>
        <p:nvSpPr>
          <p:cNvPr id="26" name="Desc0"/>
          <p:cNvSpPr/>
          <p:nvPr/>
        </p:nvSpPr>
        <p:spPr>
          <a:xfrm>
            <a:off x="2331720" y="2057400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7-step build workflow — goal, plan, execute, /init, GitHub, Pages, CI/CD.</a:t>
            </a:r>
          </a:p>
        </p:txBody>
      </p:sp>
      <p:sp>
        <p:nvSpPr>
          <p:cNvPr id="28" name="Fold0"/>
          <p:cNvSpPr/>
          <p:nvPr/>
        </p:nvSpPr>
        <p:spPr>
          <a:xfrm>
            <a:off x="2331720" y="2459736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labs/lab1-seven-steps/</a:t>
            </a:r>
          </a:p>
        </p:txBody>
      </p:sp>
      <p:sp>
        <p:nvSpPr>
          <p:cNvPr id="30" name="Card1"/>
          <p:cNvSpPr/>
          <p:nvPr/>
        </p:nvSpPr>
        <p:spPr>
          <a:xfrm>
            <a:off x="548640" y="2980944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2" name="Tab1"/>
          <p:cNvSpPr/>
          <p:nvPr/>
        </p:nvSpPr>
        <p:spPr>
          <a:xfrm>
            <a:off x="749808" y="3182112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4" name="Lab1"/>
          <p:cNvSpPr/>
          <p:nvPr/>
        </p:nvSpPr>
        <p:spPr>
          <a:xfrm>
            <a:off x="960120" y="309067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1b</a:t>
            </a:r>
          </a:p>
        </p:txBody>
      </p:sp>
      <p:sp>
        <p:nvSpPr>
          <p:cNvPr id="36" name="Pill1"/>
          <p:cNvSpPr/>
          <p:nvPr/>
        </p:nvSpPr>
        <p:spPr>
          <a:xfrm>
            <a:off x="960120" y="3493008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8" name="Topic1"/>
          <p:cNvSpPr/>
          <p:nvPr/>
        </p:nvSpPr>
        <p:spPr>
          <a:xfrm>
            <a:off x="960120" y="3493008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</a:p>
        </p:txBody>
      </p:sp>
      <p:sp>
        <p:nvSpPr>
          <p:cNvPr id="40" name="Desc1"/>
          <p:cNvSpPr/>
          <p:nvPr/>
        </p:nvSpPr>
        <p:spPr>
          <a:xfrm>
            <a:off x="2331720" y="3072384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/publish custom command + Playwright MCP screenshots into the README.</a:t>
            </a:r>
          </a:p>
        </p:txBody>
      </p:sp>
      <p:sp>
        <p:nvSpPr>
          <p:cNvPr id="42" name="Fold1"/>
          <p:cNvSpPr/>
          <p:nvPr/>
        </p:nvSpPr>
        <p:spPr>
          <a:xfrm>
            <a:off x="2331720" y="3474720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labs/lab1b-commands-mcp/</a:t>
            </a:r>
          </a:p>
        </p:txBody>
      </p:sp>
      <p:sp>
        <p:nvSpPr>
          <p:cNvPr id="44" name="Card2"/>
          <p:cNvSpPr/>
          <p:nvPr/>
        </p:nvSpPr>
        <p:spPr>
          <a:xfrm>
            <a:off x="548640" y="3995928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6" name="Tab2"/>
          <p:cNvSpPr/>
          <p:nvPr/>
        </p:nvSpPr>
        <p:spPr>
          <a:xfrm>
            <a:off x="749808" y="4197096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Lab2"/>
          <p:cNvSpPr/>
          <p:nvPr/>
        </p:nvSpPr>
        <p:spPr>
          <a:xfrm>
            <a:off x="960120" y="410565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</a:p>
        </p:txBody>
      </p:sp>
      <p:sp>
        <p:nvSpPr>
          <p:cNvPr id="50" name="Pill2"/>
          <p:cNvSpPr/>
          <p:nvPr/>
        </p:nvSpPr>
        <p:spPr>
          <a:xfrm>
            <a:off x="960120" y="4507992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52" name="Topic2"/>
          <p:cNvSpPr/>
          <p:nvPr/>
        </p:nvSpPr>
        <p:spPr>
          <a:xfrm>
            <a:off x="960120" y="4507992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54" name="Desc2"/>
          <p:cNvSpPr/>
          <p:nvPr/>
        </p:nvSpPr>
        <p:spPr>
          <a:xfrm>
            <a:off x="2331720" y="4087368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3 skills — cybersecurity, kanban, UI/UX — and revamp the site.</a:t>
            </a:r>
          </a:p>
        </p:txBody>
      </p:sp>
      <p:sp>
        <p:nvSpPr>
          <p:cNvPr id="56" name="Fold2"/>
          <p:cNvSpPr/>
          <p:nvPr/>
        </p:nvSpPr>
        <p:spPr>
          <a:xfrm>
            <a:off x="2331720" y="4489704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labs/lab2-skills/</a:t>
            </a:r>
          </a:p>
        </p:txBody>
      </p:sp>
      <p:sp>
        <p:nvSpPr>
          <p:cNvPr id="58" name="Card3"/>
          <p:cNvSpPr/>
          <p:nvPr/>
        </p:nvSpPr>
        <p:spPr>
          <a:xfrm>
            <a:off x="548640" y="5010912"/>
            <a:ext cx="11064240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0" name="Tab3"/>
          <p:cNvSpPr/>
          <p:nvPr/>
        </p:nvSpPr>
        <p:spPr>
          <a:xfrm>
            <a:off x="749808" y="5212080"/>
            <a:ext cx="68580" cy="530352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2" name="Lab3"/>
          <p:cNvSpPr/>
          <p:nvPr/>
        </p:nvSpPr>
        <p:spPr>
          <a:xfrm>
            <a:off x="960120" y="5120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</a:p>
        </p:txBody>
      </p:sp>
      <p:sp>
        <p:nvSpPr>
          <p:cNvPr id="64" name="Pill3"/>
          <p:cNvSpPr/>
          <p:nvPr/>
        </p:nvSpPr>
        <p:spPr>
          <a:xfrm>
            <a:off x="960120" y="5522976"/>
            <a:ext cx="1051560" cy="265176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6" name="Topic3"/>
          <p:cNvSpPr/>
          <p:nvPr/>
        </p:nvSpPr>
        <p:spPr>
          <a:xfrm>
            <a:off x="960120" y="5522976"/>
            <a:ext cx="10515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00" b="1" spc="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</a:p>
        </p:txBody>
      </p:sp>
      <p:sp>
        <p:nvSpPr>
          <p:cNvPr id="68" name="Desc3"/>
          <p:cNvSpPr/>
          <p:nvPr/>
        </p:nvSpPr>
        <p:spPr>
          <a:xfrm>
            <a:off x="2331720" y="5102352"/>
            <a:ext cx="6766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sub agents and /loop — the event, delegation and schedule triggers.</a:t>
            </a:r>
          </a:p>
        </p:txBody>
      </p:sp>
      <p:sp>
        <p:nvSpPr>
          <p:cNvPr id="70" name="Fold3"/>
          <p:cNvSpPr/>
          <p:nvPr/>
        </p:nvSpPr>
        <p:spPr>
          <a:xfrm>
            <a:off x="2331720" y="5504688"/>
            <a:ext cx="6766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0" kern="0" dirty="0">
                <a:solidFill>
                  <a:srgbClr val="6B68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labs/lab3-hooks/</a:t>
            </a:r>
          </a:p>
        </p:txBody>
      </p:sp>
      <p:sp>
        <p:nvSpPr>
          <p:cNvPr id="72" name="Tip"/>
          <p:cNvSpPr/>
          <p:nvPr/>
        </p:nvSpPr>
        <p:spPr>
          <a:xfrm>
            <a:off x="548640" y="6117336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gives you the exact prompt to paste, what you should see, and a checkpoint before moving on.</a:t>
            </a:r>
          </a:p>
        </p:txBody>
      </p:sp>
      <p:sp>
        <p:nvSpPr>
          <p:cNvPr id="74" name="F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76" name="F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78" name="F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 (9:00 AM – 6:00 PM)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932688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Time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Session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01C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9:30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Welcome, admin, attendance (AM), introductions, ground rules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9:30 – 10:30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1.1: setup, agentic loop &amp; tools, permission modes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 – 10:40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Morning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10:40 – 11:20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1.2: context, memory, sessions, scheduled tasks, /goal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 – 12:30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1: Build &amp; deploy a website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12:30 – 1:15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1:15 – 1:45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Custom commands · Activity 2: /gitpush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 – 2:45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2: MCP tools · Activity 3: Playwright screenshot + form 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2:45 – 2:55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8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break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2:55 – 3:40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Agent skills · Activity 4: frontend-design &amp; SEO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3:40 – 4:25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3: Sub agents &amp; hooks · Activity 5: security + UX agents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4:25 – 4:50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Activities 6–7 · hooks, testing, optimisation &amp; deployment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4:50 – 5:00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Q&amp;A, attendance (PM)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26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 – 6:00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0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Assessment: 30 min WA + 30 min PP (on the LMS)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A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 for Assessment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808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your space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phones and other materials under the table or on the floor.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156" y="21808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photos or recording of assessment materials.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8288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20574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3628" y="21808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70264" y="20299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book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0184" y="25420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slides, learner guide and approved materials are allowed.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378104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individually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assessment on your own; no discussion.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156" y="378104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3792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your time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then Practical Performance — watch the clock.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01584" y="3429000"/>
            <a:ext cx="35935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65760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3628" y="378104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70264" y="3630168"/>
            <a:ext cx="2587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Appeals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0184" y="4142232"/>
            <a:ext cx="3136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appeal process is available if you disagree with the outcome.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&amp; Funding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031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Assessment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Assessment (WA) — 30 min, starts 5:00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Performance (PP) — 30 min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Open book — class ends 6:00 PM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Allowed: slides, learner guide &amp; approved materials only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 process available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178308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194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 for Funding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629400" y="292608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75% attendance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SSG digital attendance records.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as ‘Competent’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and pass both assessment components.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D97757">
              <a:alpha val="1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Courseware &amp; Assessment on the LMS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574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courseware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71600" y="24688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slides and learner guide from the LMS for the open-book assessment.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31089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the assessment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371600" y="35204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Written Assessment and Practical Performance on the LMS.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in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371600" y="4572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enrolled account to access the course materials and assessment.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080" y="5440680"/>
            <a:ext cx="10881360" cy="640080"/>
          </a:xfrm>
          <a:prstGeom prst="roundRect">
            <a:avLst>
              <a:gd name="adj" fmla="val 14286"/>
            </a:avLst>
          </a:prstGeom>
          <a:solidFill>
            <a:srgbClr val="2E2C26"/>
          </a:solidFill>
          <a:ln/>
        </p:spPr>
      </p:sp>
      <p:sp>
        <p:nvSpPr>
          <p:cNvPr id="18" name="Text 13">
            <a:hlinkClick r:id="rIdundefined" tooltip=""/>
          </p:cNvPr>
          <p:cNvSpPr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LMS: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undefined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https://lms-tms.tertiaryinfotech.com/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  <p:pic>
        <p:nvPicPr>
          <p:cNvPr id="90" name="LMS Screenshot" descr="lms-tms.tertiaryinfotech.com login p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1965960"/>
            <a:ext cx="2194560" cy="2700528"/>
          </a:xfrm>
          <a:prstGeom prst="roundRect">
            <a:avLst>
              <a:gd name="adj" fmla="val 3000"/>
            </a:avLst>
          </a:prstGeom>
          <a:effectLst>
            <a:outerShdw sx="100000" sy="100000" kx="0" ky="0" algn="bl" rotWithShape="0" blurRad="127000" dist="50800" dir="5400000">
              <a:srgbClr val="000000">
                <a:alpha val="30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Fundamentals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Activity: Build a website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Claude Product Family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offers several Claude products — here's how they differ so you know which is which.</a:t>
            </a:r>
            <a:endParaRPr lang="en-US" sz="1600" dirty="0"/>
          </a:p>
        </p:txBody>
      </p:sp>
      <p:sp>
        <p:nvSpPr>
          <p:cNvPr id="200" name="Shape 3"/>
          <p:cNvSpPr/>
          <p:nvPr/>
        </p:nvSpPr>
        <p:spPr>
          <a:xfrm>
            <a:off x="5486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1" name="Shape 4"/>
          <p:cNvSpPr/>
          <p:nvPr/>
        </p:nvSpPr>
        <p:spPr>
          <a:xfrm>
            <a:off x="8229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165" y="2592705"/>
            <a:ext cx="247650" cy="247650"/>
          </a:xfrm>
          <a:prstGeom prst="rect">
            <a:avLst/>
          </a:prstGeom>
        </p:spPr>
      </p:pic>
      <p:sp>
        <p:nvSpPr>
          <p:cNvPr id="203" name="Text 5"/>
          <p:cNvSpPr/>
          <p:nvPr/>
        </p:nvSpPr>
        <p:spPr>
          <a:xfrm>
            <a:off x="8229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Claude.ai</a:t>
            </a:r>
            <a:endParaRPr lang="en-US" sz="1300" dirty="0"/>
          </a:p>
        </p:txBody>
      </p:sp>
      <p:sp>
        <p:nvSpPr>
          <p:cNvPr id="204" name="Text 6"/>
          <p:cNvSpPr/>
          <p:nvPr/>
        </p:nvSpPr>
        <p:spPr>
          <a:xfrm>
            <a:off x="8229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assistant on web, desktop &amp; mobile for everyday tasks.</a:t>
            </a:r>
            <a:endParaRPr lang="en-US" sz="1050" dirty="0"/>
          </a:p>
        </p:txBody>
      </p:sp>
      <p:sp>
        <p:nvSpPr>
          <p:cNvPr id="205" name="Shape 3"/>
          <p:cNvSpPr/>
          <p:nvPr/>
        </p:nvSpPr>
        <p:spPr>
          <a:xfrm>
            <a:off x="33680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6" name="Shape 4"/>
          <p:cNvSpPr/>
          <p:nvPr/>
        </p:nvSpPr>
        <p:spPr>
          <a:xfrm>
            <a:off x="36423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0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565" y="2592705"/>
            <a:ext cx="247650" cy="247650"/>
          </a:xfrm>
          <a:prstGeom prst="rect">
            <a:avLst/>
          </a:prstGeom>
        </p:spPr>
      </p:pic>
      <p:sp>
        <p:nvSpPr>
          <p:cNvPr id="208" name="Text 5"/>
          <p:cNvSpPr/>
          <p:nvPr/>
        </p:nvSpPr>
        <p:spPr>
          <a:xfrm>
            <a:off x="36423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209" name="Text 6"/>
          <p:cNvSpPr/>
          <p:nvPr/>
        </p:nvSpPr>
        <p:spPr>
          <a:xfrm>
            <a:off x="36423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tool in your terminal, IDE &amp; desktop.</a:t>
            </a:r>
            <a:endParaRPr lang="en-US" sz="1050" dirty="0"/>
          </a:p>
        </p:txBody>
      </p:sp>
      <p:sp>
        <p:nvSpPr>
          <p:cNvPr id="210" name="Shape 3"/>
          <p:cNvSpPr/>
          <p:nvPr/>
        </p:nvSpPr>
        <p:spPr>
          <a:xfrm>
            <a:off x="61874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1" name="Shape 4"/>
          <p:cNvSpPr/>
          <p:nvPr/>
        </p:nvSpPr>
        <p:spPr>
          <a:xfrm>
            <a:off x="64617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965" y="2592705"/>
            <a:ext cx="247650" cy="247650"/>
          </a:xfrm>
          <a:prstGeom prst="rect">
            <a:avLst/>
          </a:prstGeom>
        </p:spPr>
      </p:pic>
      <p:sp>
        <p:nvSpPr>
          <p:cNvPr id="213" name="Text 5"/>
          <p:cNvSpPr/>
          <p:nvPr/>
        </p:nvSpPr>
        <p:spPr>
          <a:xfrm>
            <a:off x="64617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Cowork</a:t>
            </a:r>
            <a:endParaRPr lang="en-US" sz="1300" dirty="0"/>
          </a:p>
        </p:txBody>
      </p:sp>
      <p:sp>
        <p:nvSpPr>
          <p:cNvPr id="214" name="Text 6"/>
          <p:cNvSpPr/>
          <p:nvPr/>
        </p:nvSpPr>
        <p:spPr>
          <a:xfrm>
            <a:off x="64617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non-developers to automate files &amp; tasks.</a:t>
            </a:r>
            <a:endParaRPr lang="en-US" sz="1050" dirty="0"/>
          </a:p>
        </p:txBody>
      </p:sp>
      <p:sp>
        <p:nvSpPr>
          <p:cNvPr id="215" name="Shape 3"/>
          <p:cNvSpPr/>
          <p:nvPr/>
        </p:nvSpPr>
        <p:spPr>
          <a:xfrm>
            <a:off x="9006840" y="22860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6" name="Shape 4"/>
          <p:cNvSpPr/>
          <p:nvPr/>
        </p:nvSpPr>
        <p:spPr>
          <a:xfrm>
            <a:off x="9281160" y="24765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365" y="2592705"/>
            <a:ext cx="247650" cy="247650"/>
          </a:xfrm>
          <a:prstGeom prst="rect">
            <a:avLst/>
          </a:prstGeom>
        </p:spPr>
      </p:pic>
      <p:sp>
        <p:nvSpPr>
          <p:cNvPr id="218" name="Text 5"/>
          <p:cNvSpPr/>
          <p:nvPr/>
        </p:nvSpPr>
        <p:spPr>
          <a:xfrm>
            <a:off x="9281160" y="30099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Design</a:t>
            </a:r>
            <a:endParaRPr lang="en-US" sz="1300" dirty="0"/>
          </a:p>
        </p:txBody>
      </p:sp>
      <p:sp>
        <p:nvSpPr>
          <p:cNvPr id="219" name="Text 6"/>
          <p:cNvSpPr/>
          <p:nvPr/>
        </p:nvSpPr>
        <p:spPr>
          <a:xfrm>
            <a:off x="9281160" y="33432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polished UI &amp; frontend designs.</a:t>
            </a:r>
            <a:endParaRPr lang="en-US" sz="1050" dirty="0"/>
          </a:p>
        </p:txBody>
      </p:sp>
      <p:sp>
        <p:nvSpPr>
          <p:cNvPr id="220" name="Shape 3"/>
          <p:cNvSpPr/>
          <p:nvPr/>
        </p:nvSpPr>
        <p:spPr>
          <a:xfrm>
            <a:off x="5486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1" name="Shape 4"/>
          <p:cNvSpPr/>
          <p:nvPr/>
        </p:nvSpPr>
        <p:spPr>
          <a:xfrm>
            <a:off x="8229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2" name="Image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165" y="4192905"/>
            <a:ext cx="247650" cy="247650"/>
          </a:xfrm>
          <a:prstGeom prst="rect">
            <a:avLst/>
          </a:prstGeom>
        </p:spPr>
      </p:pic>
      <p:sp>
        <p:nvSpPr>
          <p:cNvPr id="223" name="Text 5"/>
          <p:cNvSpPr/>
          <p:nvPr/>
        </p:nvSpPr>
        <p:spPr>
          <a:xfrm>
            <a:off x="8229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Microsoft</a:t>
            </a:r>
            <a:endParaRPr lang="en-US" sz="1300" dirty="0"/>
          </a:p>
        </p:txBody>
      </p:sp>
      <p:sp>
        <p:nvSpPr>
          <p:cNvPr id="224" name="Text 6"/>
          <p:cNvSpPr/>
          <p:nvPr/>
        </p:nvSpPr>
        <p:spPr>
          <a:xfrm>
            <a:off x="8229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inside Microsoft 365 &amp; Outlook.</a:t>
            </a:r>
            <a:endParaRPr lang="en-US" sz="1050" dirty="0"/>
          </a:p>
        </p:txBody>
      </p:sp>
      <p:sp>
        <p:nvSpPr>
          <p:cNvPr id="225" name="Shape 3"/>
          <p:cNvSpPr/>
          <p:nvPr/>
        </p:nvSpPr>
        <p:spPr>
          <a:xfrm>
            <a:off x="33680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6" name="Shape 4"/>
          <p:cNvSpPr/>
          <p:nvPr/>
        </p:nvSpPr>
        <p:spPr>
          <a:xfrm>
            <a:off x="36423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7" name="Image 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8565" y="4192905"/>
            <a:ext cx="247650" cy="247650"/>
          </a:xfrm>
          <a:prstGeom prst="rect">
            <a:avLst/>
          </a:prstGeom>
        </p:spPr>
      </p:pic>
      <p:sp>
        <p:nvSpPr>
          <p:cNvPr id="228" name="Text 5"/>
          <p:cNvSpPr/>
          <p:nvPr/>
        </p:nvSpPr>
        <p:spPr>
          <a:xfrm>
            <a:off x="36423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Chrome</a:t>
            </a:r>
            <a:endParaRPr lang="en-US" sz="1300" dirty="0"/>
          </a:p>
        </p:txBody>
      </p:sp>
      <p:sp>
        <p:nvSpPr>
          <p:cNvPr id="229" name="Text 6"/>
          <p:cNvSpPr/>
          <p:nvPr/>
        </p:nvSpPr>
        <p:spPr>
          <a:xfrm>
            <a:off x="36423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agent that navigates and acts on the web for you.</a:t>
            </a:r>
            <a:endParaRPr lang="en-US" sz="1050" dirty="0"/>
          </a:p>
        </p:txBody>
      </p:sp>
      <p:sp>
        <p:nvSpPr>
          <p:cNvPr id="230" name="Shape 3"/>
          <p:cNvSpPr/>
          <p:nvPr/>
        </p:nvSpPr>
        <p:spPr>
          <a:xfrm>
            <a:off x="6187440" y="3886200"/>
            <a:ext cx="2636520" cy="15087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31" name="Shape 4"/>
          <p:cNvSpPr/>
          <p:nvPr/>
        </p:nvSpPr>
        <p:spPr>
          <a:xfrm>
            <a:off x="6461760" y="4076700"/>
            <a:ext cx="480060" cy="4800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32" name="Image 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7965" y="4192905"/>
            <a:ext cx="247650" cy="247650"/>
          </a:xfrm>
          <a:prstGeom prst="rect">
            <a:avLst/>
          </a:prstGeom>
        </p:spPr>
      </p:pic>
      <p:sp>
        <p:nvSpPr>
          <p:cNvPr id="233" name="Text 5"/>
          <p:cNvSpPr/>
          <p:nvPr/>
        </p:nvSpPr>
        <p:spPr>
          <a:xfrm>
            <a:off x="6461760" y="4610100"/>
            <a:ext cx="21793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for Science</a:t>
            </a:r>
            <a:endParaRPr lang="en-US" sz="1300" dirty="0"/>
          </a:p>
        </p:txBody>
      </p:sp>
      <p:sp>
        <p:nvSpPr>
          <p:cNvPr id="234" name="Text 6"/>
          <p:cNvSpPr/>
          <p:nvPr/>
        </p:nvSpPr>
        <p:spPr>
          <a:xfrm>
            <a:off x="6461760" y="4943475"/>
            <a:ext cx="217932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Speeds up research workflows for scientists and labs.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are powered by the same Claude models — they differ in where they run and who they're for.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of AI Engineering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3657600"/>
            <a:ext cx="9418320" cy="0"/>
          </a:xfrm>
          <a:prstGeom prst="line">
            <a:avLst/>
          </a:prstGeom>
          <a:noFill/>
          <a:ln w="25400">
            <a:solidFill>
              <a:srgbClr val="6B6862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the wording of a single prompt to get good output.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what the model sees — files, memory and tools.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system around the model: loop, tools, verification.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52560" y="2148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Harness Systems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3246120"/>
            <a:ext cx="822960" cy="82296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01268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0684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long tasks autonomously — Claude Code, Cowork, Codex.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capable models shift the work from wording prompts → curating context → engineering the whole harness.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Harness Engineering?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harness is the system built around the model — the agentic loop, tools, context management, verification and guardrails — that turns a capable model into an agent which can complete long-running tasks. Harness engineering is designing that scaffolding (and stripping it back as models improve).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harness provides: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access (files, shell, MCP)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memory management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&amp; guardrails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309360" y="2697480"/>
            <a:ext cx="5303520" cy="2651760"/>
          </a:xfrm>
          <a:prstGeom prst="roundRect">
            <a:avLst>
              <a:gd name="adj" fmla="val 3448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28803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 of harness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5836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9098280" y="338328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2" name="Text 10"/>
          <p:cNvSpPr/>
          <p:nvPr/>
        </p:nvSpPr>
        <p:spPr>
          <a:xfrm>
            <a:off x="909828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98280" y="3986784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6" name="Text 14"/>
          <p:cNvSpPr/>
          <p:nvPr/>
        </p:nvSpPr>
        <p:spPr>
          <a:xfrm>
            <a:off x="9098280" y="398678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OpenClaw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98280" y="4590288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2E2C26"/>
          </a:solidFill>
          <a:ln/>
        </p:spPr>
      </p:sp>
      <p:sp>
        <p:nvSpPr>
          <p:cNvPr id="20" name="Text 18"/>
          <p:cNvSpPr/>
          <p:nvPr/>
        </p:nvSpPr>
        <p:spPr>
          <a:xfrm>
            <a:off x="9098280" y="45902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simplest harness that works — and re-examine it with every new, more capable model.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Claude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an agentic coding tool that lives in your terminal. You describe a goal in plain English, and Claude plans, writes, runs and verifies the work — editing files, running commands and using tools on your behalf.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Terminal-native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where you already work — no heavy IDE required.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multi-step tasks and acts, not just autocompletes.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Tool-using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Reads/writes files, runs bash, calls MCP servers.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commands, skills, sub-agents and hooks.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Code Can 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handles real engineering tasks end to end — describe the outcome and it does the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432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features, apps and whole projects from a prompt.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432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&amp; fix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errors; read logs and stack traces.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432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Improve, restructure and document existing code.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31720"/>
            <a:ext cx="2635758" cy="2651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060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432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29184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776472"/>
            <a:ext cx="217855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git, tests, deployment and CI/CD workflows.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  </a:t>
            </a:r>
            <a:pPr indent="0" marL="0">
              <a:buNone/>
            </a:pPr>
            <a:r>
              <a:rPr lang="en-US" sz="13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sites &amp; landing pages · internal web tools · full-stack apps · mobile apps · scripts &amp; automations · data tasks.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Claude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agentic loop runs everywhere — choose the interface that fits how you work.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834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CLI, then run `claude` in any project.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Mac/Linux: curl -fsSL claude.ai/install.sh | bash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06824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8346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 (VS Code)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581144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Claude Code extension (also Cursor &amp; JetBrains): inline diffs, @-mentions, plan review.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65008" y="2423160"/>
            <a:ext cx="3575304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269748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28346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9328" y="3383280"/>
            <a:ext cx="3072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Desktop App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39328" y="3867912"/>
            <a:ext cx="3118104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GUI for parallel sessions, scheduled tasks and connectors — runs on your machine.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48640" y="55321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 yet? In VS Code just ask Claude Code: “install claude cli in the terminal for me.”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21201C"/>
                </a:solidFill>
                <a:latin typeface="Cambria"/>
              </a:rPr>
              <a:t>Setup Claude Code in VS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>
                <a:solidFill>
                  <a:srgbClr val="21201C"/>
                </a:solidFill>
                <a:latin typeface="Calibri"/>
              </a:rPr>
              <a:t>Add Claude Code to VS Code in five steps — from a clean install to signed in and ready to build.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40000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37000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VS Code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from code.visualstudio.com/download and install it for your operating system.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304008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01008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Open a project folder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Launch VS Code and open an empty folder to start a new project.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68016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016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Install the Claude Code extension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In the Extensions panel, search for “Claude Code” and click Install.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2024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29024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Move it to the secondary side bar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Drag the Claude Code icon into the secondary side bar so it stays open beside your editor.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960320"/>
            <a:ext cx="480000" cy="48000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0320"/>
            <a:ext cx="10360000" cy="5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>
                <a:solidFill>
                  <a:srgbClr val="21201C"/>
                </a:solidFill>
                <a:latin typeface="Cambria"/>
              </a:rPr>
              <a:t>Sign in with your subscription</a:t>
            </a:r>
          </a:p>
          <a:p>
            <a:pPr>
              <a:spcBef>
                <a:spcPts val="200"/>
              </a:spcBef>
            </a:pPr>
            <a:r>
              <a:rPr sz="1150" b="0">
                <a:solidFill>
                  <a:srgbClr val="6B6862"/>
                </a:solidFill>
                <a:latin typeface="Calibri"/>
              </a:rPr>
              <a:t>Click Sign in and log in with your Claude Pro or Max subscription — you’re ready to build.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62000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No CLI needed to start — the VS Code extension runs the same agentic loop. Ask it to “install the Claude CLI” anytime.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Agentic AI Applications with Claude Code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Code Pricing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is included in the subscription plans (from Pro up) and is also available pay-as-you-go via the API.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06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$17/mo (annual) · $20 monthly. Claude Code included.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60604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$100/mo — 5× or 20× more usage than Pro.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6060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standard · $100/seat premium (5× usage).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19456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46888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60604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15468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639312"/>
            <a:ext cx="2178558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$20/seat + usage at API rates. Contact sales.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pay-as-you-go (per million tokens, input / output):  </a:t>
            </a:r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4.8 $5 / $25   ·   Sonnet 4.6 $3 / $15   ·   Haiku 4.5 $1 / $5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plan is also available. Prices as of June 2026 — verify at claude.com/pricing.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Claude Code task runs the same repeating cycle. Understanding this loop is the key to working effectively with an agent.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97180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run searches,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tools to understand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6472" y="29718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Take Action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39312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MCP tools to make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1344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55664" y="283464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297180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55664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Verify 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55664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lint, view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check the result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correct.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997696" y="25603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2016" y="283464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297180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2016" y="35204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Repeat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2016" y="402336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results back as new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and loop until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met.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in → context → action → verification → repeat → goal met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loop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9659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83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direction, not micro-steps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21762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 and constraints clearly; let the loop figure out the steps.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81635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95351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706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is everything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371600" y="316382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only as good as its ability to check its own work — provide tests, linters, screenshots.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380390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94106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758184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 mid-loop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371600" y="415137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plan, interrupt, and course-correct rather than waiting for a wrong final answer.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7914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928616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74573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is the fuel</a:t>
            </a:r>
            <a:endParaRPr lang="en-US" sz="1800" dirty="0"/>
          </a:p>
        </p:txBody>
      </p:sp>
      <p:sp>
        <p:nvSpPr>
          <p:cNvPr id="19" name="Text 13"/>
          <p:cNvSpPr/>
          <p:nvPr/>
        </p:nvSpPr>
        <p:spPr>
          <a:xfrm>
            <a:off x="1371600" y="51389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can see determines what it can do — leading us to context engineering.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Tools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what make Claude Code agentic. Each tool use returns information that feeds the next decision in the loop.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ops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Read, edit, create, rename and reorganise files.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files by pattern, grep content, explore code.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shell commands, tests, builds and git.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web and fetch docs or error messages.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subagents, code intelligence and your configured extensions (MCP, skills, hooks).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AGENTIC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Agentic Loop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E2C26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You:  </a:t>
            </a:r>
            <a:pPr indent="0" marL="0">
              <a:buNone/>
            </a:pPr>
            <a:r>
              <a:rPr lang="en-US" sz="1400" i="1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“Build a responsive software-dev website with an enquiry form, then test it.”</a:t>
            </a:r>
            <a:endParaRPr lang="en-US" sz="1400" dirty="0"/>
          </a:p>
        </p:txBody>
      </p:sp>
      <p:sp>
        <p:nvSpPr>
          <p:cNvPr id="100" name="Shape 4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51760"/>
            <a:ext cx="274320" cy="274320"/>
          </a:xfrm>
          <a:prstGeom prst="rect">
            <a:avLst/>
          </a:prstGeom>
        </p:spPr>
      </p:pic>
      <p:sp>
        <p:nvSpPr>
          <p:cNvPr id="102" name="Text 5"/>
          <p:cNvSpPr/>
          <p:nvPr/>
        </p:nvSpPr>
        <p:spPr>
          <a:xfrm>
            <a:off x="137160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Gather context</a:t>
            </a:r>
            <a:endParaRPr lang="en-US" sz="1600" dirty="0"/>
          </a:p>
        </p:txBody>
      </p:sp>
      <p:sp>
        <p:nvSpPr>
          <p:cNvPr id="103" name="Text 6"/>
          <p:cNvSpPr/>
          <p:nvPr/>
        </p:nvSpPr>
        <p:spPr>
          <a:xfrm>
            <a:off x="5394960" y="24688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folder &amp; CLAUDE.md to understand the existing site and conventions.</a:t>
            </a:r>
            <a:endParaRPr lang="en-US" sz="1300" dirty="0"/>
          </a:p>
        </p:txBody>
      </p:sp>
      <p:sp>
        <p:nvSpPr>
          <p:cNvPr id="104" name="Shape 4"/>
          <p:cNvSpPr/>
          <p:nvPr/>
        </p:nvSpPr>
        <p:spPr>
          <a:xfrm>
            <a:off x="640080" y="325526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5" name="Image 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392424"/>
            <a:ext cx="274320" cy="274320"/>
          </a:xfrm>
          <a:prstGeom prst="rect">
            <a:avLst/>
          </a:prstGeom>
        </p:spPr>
      </p:pic>
      <p:sp>
        <p:nvSpPr>
          <p:cNvPr id="106" name="Text 5"/>
          <p:cNvSpPr/>
          <p:nvPr/>
        </p:nvSpPr>
        <p:spPr>
          <a:xfrm>
            <a:off x="1371600" y="32095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Plan</a:t>
            </a:r>
            <a:endParaRPr lang="en-US" sz="1600" dirty="0"/>
          </a:p>
        </p:txBody>
      </p:sp>
      <p:sp>
        <p:nvSpPr>
          <p:cNvPr id="107" name="Text 6"/>
          <p:cNvSpPr/>
          <p:nvPr/>
        </p:nvSpPr>
        <p:spPr>
          <a:xfrm>
            <a:off x="5394960" y="320954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approach — hero, testimonials and enquiry form sections — for you to approve.</a:t>
            </a:r>
            <a:endParaRPr lang="en-US" sz="1300" dirty="0"/>
          </a:p>
        </p:txBody>
      </p:sp>
      <p:sp>
        <p:nvSpPr>
          <p:cNvPr id="108" name="Shape 4"/>
          <p:cNvSpPr/>
          <p:nvPr/>
        </p:nvSpPr>
        <p:spPr>
          <a:xfrm>
            <a:off x="640080" y="399592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0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110" name="Text 5"/>
          <p:cNvSpPr/>
          <p:nvPr/>
        </p:nvSpPr>
        <p:spPr>
          <a:xfrm>
            <a:off x="1371600" y="395020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Take action</a:t>
            </a:r>
            <a:endParaRPr lang="en-US" sz="1600" dirty="0"/>
          </a:p>
        </p:txBody>
      </p:sp>
      <p:sp>
        <p:nvSpPr>
          <p:cNvPr id="111" name="Text 6"/>
          <p:cNvSpPr/>
          <p:nvPr/>
        </p:nvSpPr>
        <p:spPr>
          <a:xfrm>
            <a:off x="5394960" y="395020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index.html, styles.css and script.js with form validation.</a:t>
            </a:r>
            <a:endParaRPr lang="en-US" sz="1300" dirty="0"/>
          </a:p>
        </p:txBody>
      </p:sp>
      <p:sp>
        <p:nvSpPr>
          <p:cNvPr id="112" name="Shape 4"/>
          <p:cNvSpPr/>
          <p:nvPr/>
        </p:nvSpPr>
        <p:spPr>
          <a:xfrm>
            <a:off x="640080" y="4736592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3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873752"/>
            <a:ext cx="274320" cy="274320"/>
          </a:xfrm>
          <a:prstGeom prst="rect">
            <a:avLst/>
          </a:prstGeom>
        </p:spPr>
      </p:pic>
      <p:sp>
        <p:nvSpPr>
          <p:cNvPr id="114" name="Text 5"/>
          <p:cNvSpPr/>
          <p:nvPr/>
        </p:nvSpPr>
        <p:spPr>
          <a:xfrm>
            <a:off x="1371600" y="4690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Verify work</a:t>
            </a:r>
            <a:endParaRPr lang="en-US" sz="1600" dirty="0"/>
          </a:p>
        </p:txBody>
      </p:sp>
      <p:sp>
        <p:nvSpPr>
          <p:cNvPr id="115" name="Text 6"/>
          <p:cNvSpPr/>
          <p:nvPr/>
        </p:nvSpPr>
        <p:spPr>
          <a:xfrm>
            <a:off x="5394960" y="469087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page via Playwright MCP and submits the form to test it.</a:t>
            </a:r>
            <a:endParaRPr lang="en-US" sz="1300" dirty="0"/>
          </a:p>
        </p:txBody>
      </p:sp>
      <p:sp>
        <p:nvSpPr>
          <p:cNvPr id="116" name="Shape 4"/>
          <p:cNvSpPr/>
          <p:nvPr/>
        </p:nvSpPr>
        <p:spPr>
          <a:xfrm>
            <a:off x="640080" y="547725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7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14416"/>
            <a:ext cx="274320" cy="274320"/>
          </a:xfrm>
          <a:prstGeom prst="rect">
            <a:avLst/>
          </a:prstGeom>
        </p:spPr>
      </p:pic>
      <p:sp>
        <p:nvSpPr>
          <p:cNvPr id="118" name="Text 5"/>
          <p:cNvSpPr/>
          <p:nvPr/>
        </p:nvSpPr>
        <p:spPr>
          <a:xfrm>
            <a:off x="1371600" y="54315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Repeat</a:t>
            </a:r>
            <a:endParaRPr lang="en-US" sz="1600" dirty="0"/>
          </a:p>
        </p:txBody>
      </p:sp>
      <p:sp>
        <p:nvSpPr>
          <p:cNvPr id="119" name="Text 6"/>
          <p:cNvSpPr/>
          <p:nvPr/>
        </p:nvSpPr>
        <p:spPr>
          <a:xfrm>
            <a:off x="5394960" y="543153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 validation bug, fixes script.js, re-tests — then reports done.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Steps to Build an App with Claude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78024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1468" y="21808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&amp;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what to build (draft the prompt with ChatGPT).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4136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3" name="Text 10"/>
          <p:cNvSpPr/>
          <p:nvPr/>
        </p:nvSpPr>
        <p:spPr>
          <a:xfrm>
            <a:off x="3630168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2180844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630168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Mode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30168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plan before coding (Shift+Tab).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99632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55664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0" name="Text 16"/>
          <p:cNvSpPr/>
          <p:nvPr/>
        </p:nvSpPr>
        <p:spPr>
          <a:xfrm>
            <a:off x="6455664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8129016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460" y="2180844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455664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Execute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6455664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plan in Bypass Permissions mode.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25128" y="178308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281160" y="203911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7" name="Text 22"/>
          <p:cNvSpPr/>
          <p:nvPr/>
        </p:nvSpPr>
        <p:spPr>
          <a:xfrm>
            <a:off x="9281160" y="20391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10954512" y="2057400"/>
            <a:ext cx="502920" cy="502920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7956" y="2180844"/>
            <a:ext cx="256032" cy="25603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81160" y="269748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(/init)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9281160" y="304495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CLAUDE.md to capture project context.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48640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804672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4" name="Text 28"/>
          <p:cNvSpPr/>
          <p:nvPr/>
        </p:nvSpPr>
        <p:spPr>
          <a:xfrm>
            <a:off x="804672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Shape 29"/>
          <p:cNvSpPr/>
          <p:nvPr/>
        </p:nvSpPr>
        <p:spPr>
          <a:xfrm>
            <a:off x="2478024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468" y="4055364"/>
            <a:ext cx="256032" cy="25603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804672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to GitHub</a:t>
            </a:r>
            <a:endParaRPr lang="en-US" sz="1450" dirty="0"/>
          </a:p>
        </p:txBody>
      </p:sp>
      <p:sp>
        <p:nvSpPr>
          <p:cNvPr id="38" name="Text 31"/>
          <p:cNvSpPr/>
          <p:nvPr/>
        </p:nvSpPr>
        <p:spPr>
          <a:xfrm>
            <a:off x="804672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Version-control and push your code.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374136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630168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1" name="Text 34"/>
          <p:cNvSpPr/>
          <p:nvPr/>
        </p:nvSpPr>
        <p:spPr>
          <a:xfrm>
            <a:off x="3630168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2" name="Shape 35"/>
          <p:cNvSpPr/>
          <p:nvPr/>
        </p:nvSpPr>
        <p:spPr>
          <a:xfrm>
            <a:off x="5303520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6964" y="4055364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3630168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45" name="Text 37"/>
          <p:cNvSpPr/>
          <p:nvPr/>
        </p:nvSpPr>
        <p:spPr>
          <a:xfrm>
            <a:off x="3630168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the app (e.g. GitHub Pages).</a:t>
            </a:r>
            <a:endParaRPr lang="en-US" sz="1100" dirty="0"/>
          </a:p>
        </p:txBody>
      </p:sp>
      <p:sp>
        <p:nvSpPr>
          <p:cNvPr id="46" name="Shape 38"/>
          <p:cNvSpPr/>
          <p:nvPr/>
        </p:nvSpPr>
        <p:spPr>
          <a:xfrm>
            <a:off x="6199632" y="3657600"/>
            <a:ext cx="2706624" cy="1691640"/>
          </a:xfrm>
          <a:prstGeom prst="roundRect">
            <a:avLst>
              <a:gd name="adj" fmla="val 4324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455664" y="3913632"/>
            <a:ext cx="548640" cy="5486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8" name="Text 40"/>
          <p:cNvSpPr/>
          <p:nvPr/>
        </p:nvSpPr>
        <p:spPr>
          <a:xfrm>
            <a:off x="6455664" y="3913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9" name="Shape 41"/>
          <p:cNvSpPr/>
          <p:nvPr/>
        </p:nvSpPr>
        <p:spPr>
          <a:xfrm>
            <a:off x="8129016" y="3931920"/>
            <a:ext cx="502920" cy="50292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4055364"/>
            <a:ext cx="256032" cy="256032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6455664" y="4572000"/>
            <a:ext cx="22494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</a:t>
            </a:r>
            <a:endParaRPr lang="en-US" sz="1450" dirty="0"/>
          </a:p>
        </p:txBody>
      </p:sp>
      <p:sp>
        <p:nvSpPr>
          <p:cNvPr id="52" name="Text 43"/>
          <p:cNvSpPr/>
          <p:nvPr/>
        </p:nvSpPr>
        <p:spPr>
          <a:xfrm>
            <a:off x="6455664" y="4919472"/>
            <a:ext cx="22494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build &amp; deploy with GitHub Actions.</a:t>
            </a:r>
            <a:endParaRPr lang="en-US" sz="1100" dirty="0"/>
          </a:p>
        </p:txBody>
      </p:sp>
      <p:sp>
        <p:nvSpPr>
          <p:cNvPr id="53" name="Text 44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do steps 1–3 now (Activity 1a), then context engineering, then steps 4–7 (Activity 1b).</a:t>
            </a:r>
            <a:endParaRPr lang="en-US" sz="1300" dirty="0"/>
          </a:p>
        </p:txBody>
      </p:sp>
      <p:sp>
        <p:nvSpPr>
          <p:cNvPr id="54" name="Text 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56" name="Text 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GOAL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a Clear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goal &amp; features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clearer the brief, the better the build.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ChatGPT to draft it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ChatGPT to expand your idea into a detailed prompt, then paste it into Claude Code.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essentials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· sections · behaviour · styling · deliverable.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783080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0" y="19202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 (software-dev website)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2240280"/>
            <a:ext cx="53035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a single-page, responsive website
for a software development company
(HTML, CSS, vanilla JS — no frameworks).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services + capture leads.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Sections: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1) Hero + CTA  2) 3 testimonial
cards  3) Enquiry form (JS validation,
console.log, commented fetch()).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Styling: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mobile-first, CSS variables,
Google Font, smooth scroll, accessible.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Deliverable: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by opening the file.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prompt is in your Learner Guide (Activity 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Modes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modes control how often Claude pauses to ask before editing files or running commands.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freely; asks before edits and shell commands.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acceptEdits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file edits and common filesystem commands.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and proposes a plan without editing source.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with background safety checks (research preview).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Shift+Tab to cycle modes; the current mode shows in the status bar.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023360" cy="4023360"/>
          </a:xfrm>
          <a:prstGeom prst="ellipse">
            <a:avLst/>
          </a:prstGeom>
          <a:solidFill>
            <a:srgbClr val="D97757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PERMISSIONS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— Handle with Care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9397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bypassPermissions  /  --dangerously-skip-permissions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788920"/>
            <a:ext cx="107899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all permission prompts and safety checks — tool calls run immediately.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NO protection against prompt injection or unintended actions.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in isolated containers / VMs without internet access.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start as root/sudo; cannot be entered mid-session.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auto mode for fewer prompts WITH background safety checks.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EXECUTE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Bypass Permissions in VS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let Claude build hands-free, enable bypass-permissions mode — use it only in a trusted, sandboxed project.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Open VS Code Settings → Extensions → Claude Code.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Enable “Allow dangerously skip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the prompt box, open the mode selector.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Choose “Bypass permissions”.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Give your build prompt — Claude runs without per-action prompts.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3774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equivalent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\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--dangerously-skip-permissions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i="1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checks or prompt-injection protection. Sandboxed / trusted projects only — prefer auto mode otherwise.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Goal, Plan &amp; Build (Steps 1–3)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Goal &amp; Features: draft a detailed build prompt (use ChatGPT) for the software-dev website.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Plan Mode: have Claude plan the build (Shift+Tab) and review the plan.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Execute: approve the plan and build the site in Bypass Permissions mode.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index.html and check the hero, testimonials and enquiry form work.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website prompt is in your Learner Guide (Activity 1).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Engineering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is the practice of curating exactly what Claude sees — instructions, files and tools — so it has the right information and nothing that wastes its limited context window.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2461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loaded every session. Run /init to generate it.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246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 mentions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specific files or folders into context on demand.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2461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/compact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conversation to reclaim context space.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83464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1089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2461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9476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/clear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9768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Wipe the slate for a fresh, unrelated task.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Your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6692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tight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overview, conventions, commands to run. Short and high-signal.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only what's needed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@file mentions instead of pasting whole folders.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before it overflows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context meter; /compact at natural breakpoints.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between tasks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fresh so old context doesn't bleed into new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78308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66560" y="228600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My Web App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Stack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Vanilla HTML, CSS, JS. No frameworks.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Conventions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Single index.html, mobile-first
- Use CSS variables for colors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Commands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Deploy: push to main (GH Pages)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CONTEXT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CLAUDE.md (/init)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to generate a CLAUDE.md so Claude remembers your project's structure and conventions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106424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CLAUDE.md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What this is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Single-page marketing site. HTML + CSS + vanilla JS — no framework, no build step.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Running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index.html directly in a browser. No dev server.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index.html  — sections: #home, #services, #testimonials, #contact
- styles.css  — design tokens in :root variables; mobile-first
- script.js   — enquiry-form validation (one DOMContentLoaded handler)
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CLAUDE.md short and high-signal — see github.com/alfredang/softwaredevleopment.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CONTEXT WINDOW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Context Window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context window holds everything it can see at once. As you work it fills up, so manage it deliberately.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fills it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prompt, CLAUDE.md, memory, conversation, file reads, tool output, skills.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/context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what's using space; run /mcp for per-server token cost.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Auto-compaction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limit, old tool outputs clear first, then history is summarised.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83464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lean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schemas load on demand; subagents keep their own context.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persistent rules in CLAUDE.md — conversation detail can be lost during compaction.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MEMORY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starts fresh. Two mechanisms carry knowledge across sessions.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48640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6974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606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33375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it — instructions &amp; rules.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/init; keep under ~200 lines.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Scopes: project, user, or organisation.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full every session.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09360" y="2286000"/>
            <a:ext cx="5303520" cy="3383280"/>
          </a:xfrm>
          <a:prstGeom prst="roundRect">
            <a:avLst>
              <a:gd name="adj" fmla="val 2162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603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6974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69480" y="2606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 Memory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29400" y="333756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it — learnings &amp; patterns.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MEMORY.md per repository.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200 lines / 25KB load each session.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edit with /memory.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SESSIONS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Sessions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is a saved conversation tied to a project directory. Resume, branch, name and switch between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--continue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the most recent session in this directory.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--resume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session picker to browse and search.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/rename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session so it's findable later.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/branch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the conversation to try another approach.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saved locally; use /clear and /compact to manage context within one.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SCHEDULED TASKS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Scheduled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 (Desktop Routines) start a new session automatically — for daily reviews, audits or briefings.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→ New routine → Local; set name &amp; instructions.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Hourly, daily, weekdays or weekly — or describe it.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locally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while the app is open and your machine is awake.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now, pause, edit, and review run history.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ask: “set up a daily code review that runs every morning at 9am.”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·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Working Toward a Goal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/goal sets a completion condition. After each turn a fast model checks it, and Claude keeps working until it's met.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&lt;cond&gt;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verifiable end state, e.g. “all tests pass”.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turns, tokens and the latest reason.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/goal clear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active goal before it's met.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Haiku evaluator judges the condition each turn.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conditions Claude can prove in the transcript — e.g. “npm test exits 0”.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1B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Context, Deploy &amp; CI/CD (Steps 4–7)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Context: run /init to generate CLAUDE.md for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Commit to GitHub: initialise git and push your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Deployment: deploy to GitHub Pages via GitHub Actions; add a README.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CI/CD: confirm each push automatically rebuilds and redeploys the site.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your live GitHub Pages link: https://&lt;username&gt;.github.io/software-dev-site/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deployed GitHub Pages URL with the class.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Commands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.claude directory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MCP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.claude Directory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keeps its configuration in two places: your user folder (applies everywhere) and the project folder (shared with your team via version control).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~/.claude/   (user — all projects)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settings, hooks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personal memory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  skills/  commands/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projects/&lt;p&gt;/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sessions + memory/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plugins/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~/.claude.json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MCP servers, config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46888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2606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&lt;project&gt;/.claude/   (team — in git)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7180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shared settings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settings.local.json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personal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memory &amp; rules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commands/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/slash commands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skills/&lt;name&gt;/SKILL.md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agents/&lt;name&gt;.md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sub agents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.mcp.json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project MCP servers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56235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scope applies to every project; project scope is committed so your whole team shares it.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Shape 101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CONFIGURATION</a:t>
            </a:r>
          </a:p>
        </p:txBody>
      </p:sp>
      <p:sp>
        <p:nvSpPr>
          <p:cNvPr id="102" name="Shape 102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vs Project Level</a:t>
            </a:r>
          </a:p>
        </p:txBody>
      </p:sp>
      <p:sp>
        <p:nvSpPr>
          <p:cNvPr id="103" name="Shape 103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customisation — commands, MCP tools, skills, CLAUDE.md and hooks — can be stored at two levels. User level applies to ALL your projects; project level applies only to that ONE project.</a:t>
            </a:r>
          </a:p>
        </p:txBody>
      </p:sp>
      <p:sp>
        <p:nvSpPr>
          <p:cNvPr id="104" name="Shape 104"/>
          <p:cNvSpPr/>
          <p:nvPr/>
        </p:nvSpPr>
        <p:spPr>
          <a:xfrm>
            <a:off x="54864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5" name="Shape 105"/>
          <p:cNvSpPr/>
          <p:nvPr/>
        </p:nvSpPr>
        <p:spPr>
          <a:xfrm>
            <a:off x="77724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6" name="Shape 106"/>
          <p:cNvSpPr/>
          <p:nvPr/>
        </p:nvSpPr>
        <p:spPr>
          <a:xfrm>
            <a:off x="77724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Level  ·  ~/.claude/</a:t>
            </a:r>
          </a:p>
        </p:txBody>
      </p:sp>
      <p:sp>
        <p:nvSpPr>
          <p:cNvPr id="107" name="Shape 107"/>
          <p:cNvSpPr/>
          <p:nvPr/>
        </p:nvSpPr>
        <p:spPr>
          <a:xfrm>
            <a:off x="77724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08" name="Shape 108"/>
          <p:cNvSpPr/>
          <p:nvPr/>
        </p:nvSpPr>
        <p:spPr>
          <a:xfrm>
            <a:off x="7772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ALL PROJECTS</a:t>
            </a:r>
          </a:p>
        </p:txBody>
      </p:sp>
      <p:sp>
        <p:nvSpPr>
          <p:cNvPr id="109" name="Shape 109"/>
          <p:cNvSpPr/>
          <p:nvPr/>
        </p:nvSpPr>
        <p:spPr>
          <a:xfrm>
            <a:off x="822960" y="374916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0" name="Shape 110"/>
          <p:cNvSpPr/>
          <p:nvPr/>
        </p:nvSpPr>
        <p:spPr>
          <a:xfrm>
            <a:off x="101536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11" name="Shape 111"/>
          <p:cNvSpPr/>
          <p:nvPr/>
        </p:nvSpPr>
        <p:spPr>
          <a:xfrm>
            <a:off x="223864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~/.claude/commands/&lt;name&gt;.md</a:t>
            </a:r>
          </a:p>
        </p:txBody>
      </p:sp>
      <p:sp>
        <p:nvSpPr>
          <p:cNvPr id="112" name="Shape 112"/>
          <p:cNvSpPr/>
          <p:nvPr/>
        </p:nvSpPr>
        <p:spPr>
          <a:xfrm>
            <a:off x="822960" y="4114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3" name="Shape 113"/>
          <p:cNvSpPr/>
          <p:nvPr/>
        </p:nvSpPr>
        <p:spPr>
          <a:xfrm>
            <a:off x="101536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14" name="Shape 114"/>
          <p:cNvSpPr/>
          <p:nvPr/>
        </p:nvSpPr>
        <p:spPr>
          <a:xfrm>
            <a:off x="223864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~/.claude.json  ·  claude mcp add -s user …</a:t>
            </a:r>
          </a:p>
        </p:txBody>
      </p:sp>
      <p:sp>
        <p:nvSpPr>
          <p:cNvPr id="115" name="Shape 115"/>
          <p:cNvSpPr/>
          <p:nvPr/>
        </p:nvSpPr>
        <p:spPr>
          <a:xfrm>
            <a:off x="822960" y="448068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6" name="Shape 116"/>
          <p:cNvSpPr/>
          <p:nvPr/>
        </p:nvSpPr>
        <p:spPr>
          <a:xfrm>
            <a:off x="101536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17" name="Shape 117"/>
          <p:cNvSpPr/>
          <p:nvPr/>
        </p:nvSpPr>
        <p:spPr>
          <a:xfrm>
            <a:off x="223864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~/.claude/skills/&lt;name&gt;/SKILL.md</a:t>
            </a:r>
          </a:p>
        </p:txBody>
      </p:sp>
      <p:sp>
        <p:nvSpPr>
          <p:cNvPr id="118" name="Shape 118"/>
          <p:cNvSpPr/>
          <p:nvPr/>
        </p:nvSpPr>
        <p:spPr>
          <a:xfrm>
            <a:off x="822960" y="484644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19" name="Shape 119"/>
          <p:cNvSpPr/>
          <p:nvPr/>
        </p:nvSpPr>
        <p:spPr>
          <a:xfrm>
            <a:off x="101536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20" name="Shape 120"/>
          <p:cNvSpPr/>
          <p:nvPr/>
        </p:nvSpPr>
        <p:spPr>
          <a:xfrm>
            <a:off x="223864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~/.claude/CLAUDE.md  (your personal memory)</a:t>
            </a:r>
          </a:p>
        </p:txBody>
      </p:sp>
      <p:sp>
        <p:nvSpPr>
          <p:cNvPr id="121" name="Shape 121"/>
          <p:cNvSpPr/>
          <p:nvPr/>
        </p:nvSpPr>
        <p:spPr>
          <a:xfrm>
            <a:off x="822960" y="521220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  <p:txBody>
          <a:bodyPr/>
          <a:p/>
        </p:txBody>
      </p:sp>
      <p:sp>
        <p:nvSpPr>
          <p:cNvPr id="122" name="Shape 122"/>
          <p:cNvSpPr/>
          <p:nvPr/>
        </p:nvSpPr>
        <p:spPr>
          <a:xfrm>
            <a:off x="101536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23" name="Shape 123"/>
          <p:cNvSpPr/>
          <p:nvPr/>
        </p:nvSpPr>
        <p:spPr>
          <a:xfrm>
            <a:off x="223864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~/.claude/settings.json  →  "hooks"</a:t>
            </a:r>
          </a:p>
        </p:txBody>
      </p:sp>
      <p:sp>
        <p:nvSpPr>
          <p:cNvPr id="124" name="Shape 124"/>
          <p:cNvSpPr/>
          <p:nvPr/>
        </p:nvSpPr>
        <p:spPr>
          <a:xfrm>
            <a:off x="6217920" y="2377440"/>
            <a:ext cx="5425440" cy="310896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25" name="Shape 125"/>
          <p:cNvSpPr/>
          <p:nvPr/>
        </p:nvSpPr>
        <p:spPr>
          <a:xfrm>
            <a:off x="6446520" y="260604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6" name="Shape 126"/>
          <p:cNvSpPr/>
          <p:nvPr/>
        </p:nvSpPr>
        <p:spPr>
          <a:xfrm>
            <a:off x="6446520" y="27432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Level  ·  &lt;project&gt;/</a:t>
            </a:r>
          </a:p>
        </p:txBody>
      </p:sp>
      <p:sp>
        <p:nvSpPr>
          <p:cNvPr id="127" name="Shape 127"/>
          <p:cNvSpPr/>
          <p:nvPr/>
        </p:nvSpPr>
        <p:spPr>
          <a:xfrm>
            <a:off x="6446520" y="3246120"/>
            <a:ext cx="274320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8" name="Shape 128"/>
          <p:cNvSpPr/>
          <p:nvPr/>
        </p:nvSpPr>
        <p:spPr>
          <a:xfrm>
            <a:off x="644652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ONLY</a:t>
            </a:r>
          </a:p>
        </p:txBody>
      </p:sp>
      <p:sp>
        <p:nvSpPr>
          <p:cNvPr id="129" name="Shape 129"/>
          <p:cNvSpPr/>
          <p:nvPr/>
        </p:nvSpPr>
        <p:spPr>
          <a:xfrm>
            <a:off x="6492240" y="374916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0" name="Shape 130"/>
          <p:cNvSpPr/>
          <p:nvPr/>
        </p:nvSpPr>
        <p:spPr>
          <a:xfrm>
            <a:off x="6684645" y="3612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</a:t>
            </a:r>
          </a:p>
        </p:txBody>
      </p:sp>
      <p:sp>
        <p:nvSpPr>
          <p:cNvPr id="131" name="Shape 131"/>
          <p:cNvSpPr/>
          <p:nvPr/>
        </p:nvSpPr>
        <p:spPr>
          <a:xfrm>
            <a:off x="7907920" y="361200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&lt;project&gt;/.claude/commands/&lt;name&gt;.md</a:t>
            </a:r>
          </a:p>
        </p:txBody>
      </p:sp>
      <p:sp>
        <p:nvSpPr>
          <p:cNvPr id="132" name="Shape 132"/>
          <p:cNvSpPr/>
          <p:nvPr/>
        </p:nvSpPr>
        <p:spPr>
          <a:xfrm>
            <a:off x="6492240" y="4114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3" name="Shape 133"/>
          <p:cNvSpPr/>
          <p:nvPr/>
        </p:nvSpPr>
        <p:spPr>
          <a:xfrm>
            <a:off x="6684645" y="3977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</a:t>
            </a:r>
          </a:p>
        </p:txBody>
      </p:sp>
      <p:sp>
        <p:nvSpPr>
          <p:cNvPr id="134" name="Shape 134"/>
          <p:cNvSpPr/>
          <p:nvPr/>
        </p:nvSpPr>
        <p:spPr>
          <a:xfrm>
            <a:off x="7907920" y="397776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&lt;project&gt;/.mcp.json  ·  claude mcp add -s project …</a:t>
            </a:r>
          </a:p>
        </p:txBody>
      </p:sp>
      <p:sp>
        <p:nvSpPr>
          <p:cNvPr id="135" name="Shape 135"/>
          <p:cNvSpPr/>
          <p:nvPr/>
        </p:nvSpPr>
        <p:spPr>
          <a:xfrm>
            <a:off x="6492240" y="448068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6" name="Shape 136"/>
          <p:cNvSpPr/>
          <p:nvPr/>
        </p:nvSpPr>
        <p:spPr>
          <a:xfrm>
            <a:off x="6684645" y="4343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137" name="Shape 137"/>
          <p:cNvSpPr/>
          <p:nvPr/>
        </p:nvSpPr>
        <p:spPr>
          <a:xfrm>
            <a:off x="7907920" y="434352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&lt;project&gt;/.claude/skills/&lt;name&gt;/SKILL.md</a:t>
            </a:r>
          </a:p>
        </p:txBody>
      </p:sp>
      <p:sp>
        <p:nvSpPr>
          <p:cNvPr id="138" name="Shape 138"/>
          <p:cNvSpPr/>
          <p:nvPr/>
        </p:nvSpPr>
        <p:spPr>
          <a:xfrm>
            <a:off x="6492240" y="484644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39" name="Shape 139"/>
          <p:cNvSpPr/>
          <p:nvPr/>
        </p:nvSpPr>
        <p:spPr>
          <a:xfrm>
            <a:off x="6684645" y="4709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140" name="Shape 140"/>
          <p:cNvSpPr/>
          <p:nvPr/>
        </p:nvSpPr>
        <p:spPr>
          <a:xfrm>
            <a:off x="7907920" y="470928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&lt;project&gt;/CLAUDE.md  (shared with the team)</a:t>
            </a:r>
          </a:p>
        </p:txBody>
      </p:sp>
      <p:sp>
        <p:nvSpPr>
          <p:cNvPr id="141" name="Shape 141"/>
          <p:cNvSpPr/>
          <p:nvPr/>
        </p:nvSpPr>
        <p:spPr>
          <a:xfrm>
            <a:off x="6492240" y="521220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42" name="Shape 142"/>
          <p:cNvSpPr/>
          <p:nvPr/>
        </p:nvSpPr>
        <p:spPr>
          <a:xfrm>
            <a:off x="6684645" y="5075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143" name="Shape 143"/>
          <p:cNvSpPr/>
          <p:nvPr/>
        </p:nvSpPr>
        <p:spPr>
          <a:xfrm>
            <a:off x="7907920" y="5075040"/>
            <a:ext cx="3506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&lt;project&gt;/.claude/settings.json  →  "hooks"</a:t>
            </a:r>
          </a:p>
        </p:txBody>
      </p:sp>
      <p:sp>
        <p:nvSpPr>
          <p:cNvPr id="144" name="Shape 144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personal preferences at user level; commit team-shared rules, commands, skills and hooks at project level. Both levels load together — where they conflict, project settings take precedence.</a:t>
            </a:r>
          </a:p>
        </p:txBody>
      </p:sp>
      <p:sp>
        <p:nvSpPr>
          <p:cNvPr id="145" name="Shape 14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146" name="Shape 146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147" name="Shape 14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CUSTOM COMMANDS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Slash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are reusable prompts saved as Markdown files. Type a slash command to run a multi-step workflow the same way every 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they live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 in your project (or ~/.claude for personal).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make 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name.md — the filename becomes /name.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 to pick up new commands.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$ARGUMENTS to pass input into the command.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56032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697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.claude/commands/gitpush.md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0896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all code to GitHub, then: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Create a README
2. Enable GitHub Pages
3. Update repo About + Pages link
4. Scan for secrets before publishing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 $ARGUMENTS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/gitpush Command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.claude/commands/gitpush.md in your project.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push/update all code to GitHub.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generate a README for the repository.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create a GitHub Page via GitHub Actions.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update the repo About section and add the GitHub Pages link.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Step: security scan so no sensitive data is published.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Claude Code, then run /gitpush to execute the whole workflow.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MCP?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Claude Code connect to external tools and data sources through a common interface — like a USB-C port for AI.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Server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tools/data (e.g. Playwright, GitHub, databases).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Client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connects to servers and calls their tools.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or HTTP/SSE — transport-agnostic communication.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server publishes callable actions Claude can use.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 MCP Server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server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add — register an HTTP or local stdio server.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scope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(this project), project (.mcp.json, shared), or user (all projects).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&amp; use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mcp list to check status; /mcp to manage in-session.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00400"/>
          </a:xfrm>
          <a:prstGeom prst="roundRect">
            <a:avLst>
              <a:gd name="adj" fmla="val 1714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hosted server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--transport \
   http docs &lt;url&gt;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stdio server (project)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add playwright \
   -s project -- npx -y \
  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 mcp list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Project-scoped servers live in .mcp.json — commit it so teammates get the same tools.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· MCP TOOLS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MCP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Playwright MCP server lets Claude Code drive a real browser — open pages, click, fill forms and capture screenshots — perfect for testing the website you just built.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at project level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server to your project's MCP config.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permissions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Claude to launch and control the browser.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tools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site and take a screenshot.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mcp add playwright \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npx @playwright/mcp@latest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my site and take 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screenshot, then add it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 the README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Use Playwright MCP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Playwright MCP tool at the project level.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browser permissions for Claude Code.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open your deployed website in the browser.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a screenshot of the site using the Playwright MCP tool.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screenshot to your README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screenshot renders correctly in your GitHub README.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the Enquiry Form (Playwright)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enquiry form to send submissions to angch@tertiaryinfotech.com (e.g. Formspree or a fetch to your endpoint).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use the Playwright MCP tool to open your deployed site.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the form with test data (name, email, message) and submit it.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success message appears and the data is captured in the console.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the enquiry email actually arrives in the inbox.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after each change so every enquiry reliably reaches your email.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51460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Skills, Agents &amp; Hooks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321040" y="1463040"/>
            <a:ext cx="3200400" cy="2724912"/>
          </a:xfrm>
          <a:prstGeom prst="roundRect">
            <a:avLst>
              <a:gd name="adj" fmla="val 3356"/>
            </a:avLst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Summary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6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Skills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reusable folders of instructions (SKILL.md) plus optional scripts and resources that teach Claude how to do a specialised task. Claude loads a skill only when it's relevant.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instructions Claude follows on demand.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skills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 — shared with your repo &amp; team.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skills add &lt;repo&gt; --skill &lt;name&gt;.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Customise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skill to fit your project's needs.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AGENT SKILLS</a:t>
            </a:r>
          </a:p>
        </p:txBody>
      </p:sp>
      <p:sp>
        <p:nvSpPr>
          <p:cNvPr id="4" name="Text 4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 vs CLAUDE.md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Markdown instruction files — the difference is WHEN Claude loads them.</a:t>
            </a:r>
          </a:p>
        </p:txBody>
      </p:sp>
      <p:sp>
        <p:nvSpPr>
          <p:cNvPr id="6" name="Shape 6"/>
          <p:cNvSpPr/>
          <p:nvPr/>
        </p:nvSpPr>
        <p:spPr>
          <a:xfrm>
            <a:off x="54864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8" name="Text 8"/>
          <p:cNvSpPr/>
          <p:nvPr/>
        </p:nvSpPr>
        <p:spPr>
          <a:xfrm>
            <a:off x="77724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SKILL.md</a:t>
            </a:r>
          </a:p>
        </p:txBody>
      </p:sp>
      <p:sp>
        <p:nvSpPr>
          <p:cNvPr id="9" name="Shape 9"/>
          <p:cNvSpPr/>
          <p:nvPr/>
        </p:nvSpPr>
        <p:spPr>
          <a:xfrm>
            <a:off x="77724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3A7D7B"/>
          </a:solidFill>
          <a:ln/>
        </p:spPr>
      </p:sp>
      <p:sp>
        <p:nvSpPr>
          <p:cNvPr id="10" name="Text 10"/>
          <p:cNvSpPr/>
          <p:nvPr/>
        </p:nvSpPr>
        <p:spPr>
          <a:xfrm>
            <a:off x="77724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 DEMAND</a:t>
            </a:r>
          </a:p>
        </p:txBody>
      </p:sp>
      <p:sp>
        <p:nvSpPr>
          <p:cNvPr id="11" name="Shape 11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2" name="Text 12"/>
          <p:cNvSpPr/>
          <p:nvPr/>
        </p:nvSpPr>
        <p:spPr>
          <a:xfrm>
            <a:off x="101536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13" name="Text 13"/>
          <p:cNvSpPr/>
          <p:nvPr/>
        </p:nvSpPr>
        <p:spPr>
          <a:xfrm>
            <a:off x="205740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the name + description, and loads it only when the task matches.</a:t>
            </a:r>
          </a:p>
        </p:txBody>
      </p:sp>
      <p:sp>
        <p:nvSpPr>
          <p:cNvPr id="14" name="Shape 14"/>
          <p:cNvSpPr/>
          <p:nvPr/>
        </p:nvSpPr>
        <p:spPr>
          <a:xfrm>
            <a:off x="822960" y="43319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5" name="Text 15"/>
          <p:cNvSpPr/>
          <p:nvPr/>
        </p:nvSpPr>
        <p:spPr>
          <a:xfrm>
            <a:off x="101536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16" name="Text 16"/>
          <p:cNvSpPr/>
          <p:nvPr/>
        </p:nvSpPr>
        <p:spPr>
          <a:xfrm>
            <a:off x="205740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specialised capability — a workflow, a format, a house standard.</a:t>
            </a:r>
          </a:p>
        </p:txBody>
      </p:sp>
      <p:sp>
        <p:nvSpPr>
          <p:cNvPr id="17" name="Shape 17"/>
          <p:cNvSpPr/>
          <p:nvPr/>
        </p:nvSpPr>
        <p:spPr>
          <a:xfrm>
            <a:off x="822960" y="473202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18" name="Text 18"/>
          <p:cNvSpPr/>
          <p:nvPr/>
        </p:nvSpPr>
        <p:spPr>
          <a:xfrm>
            <a:off x="101536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19" name="Text 19"/>
          <p:cNvSpPr/>
          <p:nvPr/>
        </p:nvSpPr>
        <p:spPr>
          <a:xfrm>
            <a:off x="205740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no context until it fires; you can keep dozens installed.</a:t>
            </a:r>
          </a:p>
        </p:txBody>
      </p:sp>
      <p:sp>
        <p:nvSpPr>
          <p:cNvPr id="20" name="Shape 20"/>
          <p:cNvSpPr/>
          <p:nvPr/>
        </p:nvSpPr>
        <p:spPr>
          <a:xfrm>
            <a:off x="822960" y="5132070"/>
            <a:ext cx="91440" cy="91440"/>
          </a:xfrm>
          <a:prstGeom prst="ellipse">
            <a:avLst/>
          </a:prstGeom>
          <a:solidFill>
            <a:srgbClr val="3A7D7B"/>
          </a:solidFill>
          <a:ln/>
        </p:spPr>
      </p:sp>
      <p:sp>
        <p:nvSpPr>
          <p:cNvPr id="21" name="Text 21"/>
          <p:cNvSpPr/>
          <p:nvPr/>
        </p:nvSpPr>
        <p:spPr>
          <a:xfrm>
            <a:off x="101536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22" name="Text 22"/>
          <p:cNvSpPr/>
          <p:nvPr/>
        </p:nvSpPr>
        <p:spPr>
          <a:xfrm>
            <a:off x="205740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</a:t>
            </a:r>
          </a:p>
        </p:txBody>
      </p:sp>
      <p:sp>
        <p:nvSpPr>
          <p:cNvPr id="23" name="Shape 23"/>
          <p:cNvSpPr/>
          <p:nvPr/>
        </p:nvSpPr>
        <p:spPr>
          <a:xfrm>
            <a:off x="6217920" y="2468880"/>
            <a:ext cx="5425440" cy="2926080"/>
          </a:xfrm>
          <a:prstGeom prst="roundRect">
            <a:avLst>
              <a:gd name="adj" fmla="val 35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6446520" y="2697480"/>
            <a:ext cx="1005840" cy="914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" name="Text 25"/>
          <p:cNvSpPr/>
          <p:nvPr/>
        </p:nvSpPr>
        <p:spPr>
          <a:xfrm>
            <a:off x="6446520" y="2834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CLAUDE.md</a:t>
            </a:r>
          </a:p>
        </p:txBody>
      </p:sp>
      <p:sp>
        <p:nvSpPr>
          <p:cNvPr id="26" name="Shape 26"/>
          <p:cNvSpPr/>
          <p:nvPr/>
        </p:nvSpPr>
        <p:spPr>
          <a:xfrm>
            <a:off x="6446520" y="3337560"/>
            <a:ext cx="237744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7" name="Text 27"/>
          <p:cNvSpPr/>
          <p:nvPr/>
        </p:nvSpPr>
        <p:spPr>
          <a:xfrm>
            <a:off x="6446520" y="33375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EVERY SESSION</a:t>
            </a:r>
          </a:p>
        </p:txBody>
      </p:sp>
      <p:sp>
        <p:nvSpPr>
          <p:cNvPr id="28" name="Shape 28"/>
          <p:cNvSpPr/>
          <p:nvPr/>
        </p:nvSpPr>
        <p:spPr>
          <a:xfrm>
            <a:off x="6492240" y="39319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9" name="Text 29"/>
          <p:cNvSpPr/>
          <p:nvPr/>
        </p:nvSpPr>
        <p:spPr>
          <a:xfrm>
            <a:off x="6684645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</a:p>
        </p:txBody>
      </p:sp>
      <p:sp>
        <p:nvSpPr>
          <p:cNvPr id="30" name="Text 30"/>
          <p:cNvSpPr/>
          <p:nvPr/>
        </p:nvSpPr>
        <p:spPr>
          <a:xfrm>
            <a:off x="7726680" y="37490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automatically at the start of every session — always in context.</a:t>
            </a:r>
          </a:p>
        </p:txBody>
      </p:sp>
      <p:sp>
        <p:nvSpPr>
          <p:cNvPr id="31" name="Shape 31"/>
          <p:cNvSpPr/>
          <p:nvPr/>
        </p:nvSpPr>
        <p:spPr>
          <a:xfrm>
            <a:off x="6492240" y="43319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2" name="Text 32"/>
          <p:cNvSpPr/>
          <p:nvPr/>
        </p:nvSpPr>
        <p:spPr>
          <a:xfrm>
            <a:off x="6684645" y="41490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</a:p>
        </p:txBody>
      </p:sp>
      <p:sp>
        <p:nvSpPr>
          <p:cNvPr id="33" name="Text 33"/>
          <p:cNvSpPr/>
          <p:nvPr/>
        </p:nvSpPr>
        <p:spPr>
          <a:xfrm>
            <a:off x="7726680" y="41490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Project-wide facts: stack, conventions, commands, do-nots.</a:t>
            </a:r>
          </a:p>
        </p:txBody>
      </p:sp>
      <p:sp>
        <p:nvSpPr>
          <p:cNvPr id="34" name="Shape 34"/>
          <p:cNvSpPr/>
          <p:nvPr/>
        </p:nvSpPr>
        <p:spPr>
          <a:xfrm>
            <a:off x="6492240" y="473202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5" name="Text 35"/>
          <p:cNvSpPr/>
          <p:nvPr/>
        </p:nvSpPr>
        <p:spPr>
          <a:xfrm>
            <a:off x="6684645" y="45491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</a:p>
        </p:txBody>
      </p:sp>
      <p:sp>
        <p:nvSpPr>
          <p:cNvPr id="36" name="Text 36"/>
          <p:cNvSpPr/>
          <p:nvPr/>
        </p:nvSpPr>
        <p:spPr>
          <a:xfrm>
            <a:off x="7726680" y="454914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context on every turn, so keep it tight and high-value.</a:t>
            </a:r>
          </a:p>
        </p:txBody>
      </p:sp>
      <p:sp>
        <p:nvSpPr>
          <p:cNvPr id="37" name="Shape 37"/>
          <p:cNvSpPr/>
          <p:nvPr/>
        </p:nvSpPr>
        <p:spPr>
          <a:xfrm>
            <a:off x="6492240" y="5132070"/>
            <a:ext cx="91440" cy="9144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38" name="Text 38"/>
          <p:cNvSpPr/>
          <p:nvPr/>
        </p:nvSpPr>
        <p:spPr>
          <a:xfrm>
            <a:off x="6684645" y="494919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</a:t>
            </a:r>
          </a:p>
        </p:txBody>
      </p:sp>
      <p:sp>
        <p:nvSpPr>
          <p:cNvPr id="39" name="Text 39"/>
          <p:cNvSpPr/>
          <p:nvPr/>
        </p:nvSpPr>
        <p:spPr>
          <a:xfrm>
            <a:off x="7726680" y="4949190"/>
            <a:ext cx="3642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at the project root (or ~/.claude/CLAUDE.md)</a:t>
            </a:r>
          </a:p>
        </p:txBody>
      </p:sp>
      <p:sp>
        <p:nvSpPr>
          <p:cNvPr id="40" name="Text 40"/>
          <p:cNvSpPr/>
          <p:nvPr/>
        </p:nvSpPr>
        <p:spPr>
          <a:xfrm>
            <a:off x="548640" y="5638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i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stable project facts in CLAUDE.md; put specialised, occasional procedures in a skill.</a:t>
            </a:r>
          </a:p>
        </p:txBody>
      </p:sp>
      <p:sp>
        <p:nvSpPr>
          <p:cNvPr id="41" name="Text 4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42" name="Text 42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43" name="Text 4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 &amp; Run Skills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frontend-design: npx skills add https://github.com/anthropics/skills --skill frontend-design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 the frontend design to appeal to software-dev clients.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seo-audit: npx skills add https://github.com/coreyhaines31/marketingskills --skill seo-audit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seo-audit skill to optimise the website's SEO.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skills install into .claude/skills/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are specialised assistants with their own prompt, tools and context window. Delegate focused jobs — like security review or UX critique — to keep the main thread clean.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54864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/agents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Project to save under .claude/agents/.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 clear role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purpose, tools and when to invoke it.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 agent runs in its own context window.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0" y="2606040"/>
            <a:ext cx="5212080" cy="2743200"/>
          </a:xfrm>
          <a:prstGeom prst="roundRect">
            <a:avLst>
              <a:gd name="adj" fmla="val 2000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751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.claude/agents/security-scan.md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315468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security-scan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 for vulns
  &amp; hardening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 security reviewer...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Use Sub Agents?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 sub agent when a side task would flood your main conversation with output you won't reference again.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788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 context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&amp; logs stay in the agent's own window — only the summary returns.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7278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1598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758" y="27889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1598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 constraints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41598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exactly which tools the sub agent is allowed to use.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185916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0236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7396" y="27889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60236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specialise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460236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configs across projects; focused prompts for each domain.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4554" y="2377440"/>
            <a:ext cx="2635758" cy="274320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78874" y="2651760"/>
            <a:ext cx="566928" cy="566928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6034" y="278892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78874" y="3337560"/>
            <a:ext cx="21328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costs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278874" y="3822192"/>
            <a:ext cx="2178558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narrow tasks to a faster, cheaper model.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custom sub agent when you keep spawning the same kind of worker with the same instructions.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SUB AGENTS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 vs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 Agents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55080" y="1463040"/>
            <a:ext cx="5257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E5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Teams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554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54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71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271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89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289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6289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689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855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29855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83480" y="2468880"/>
            <a:ext cx="0" cy="64008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343400" y="31089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C2603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43400" y="3108960"/>
            <a:ext cx="128016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Subagent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983480" y="3566160"/>
            <a:ext cx="0" cy="5029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700016" y="4242816"/>
            <a:ext cx="566928" cy="566928"/>
          </a:xfrm>
          <a:prstGeom prst="ellipse">
            <a:avLst/>
          </a:prstGeom>
          <a:solidFill>
            <a:srgbClr val="2E2C26"/>
          </a:solidFill>
          <a:ln w="12700">
            <a:solidFill>
              <a:srgbClr val="8A867D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4700016" y="42428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2542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520440" y="36393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85800" y="2240280"/>
            <a:ext cx="0" cy="22860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</a:ln>
        </p:spPr>
      </p:sp>
      <p:sp>
        <p:nvSpPr>
          <p:cNvPr id="29" name="Shape 27"/>
          <p:cNvSpPr/>
          <p:nvPr/>
        </p:nvSpPr>
        <p:spPr>
          <a:xfrm>
            <a:off x="685800" y="4526280"/>
            <a:ext cx="50292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2240280"/>
            <a:ext cx="228600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75120" y="201168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6D2E4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75120" y="2011680"/>
            <a:ext cx="4617720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Agent (Team Lead)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983980" y="2468880"/>
            <a:ext cx="0" cy="54864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9052560" y="250545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&amp; assign tasks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675120" y="3017520"/>
            <a:ext cx="4617720" cy="457200"/>
          </a:xfrm>
          <a:prstGeom prst="roundRect">
            <a:avLst>
              <a:gd name="adj" fmla="val 12000"/>
            </a:avLst>
          </a:prstGeom>
          <a:solidFill>
            <a:srgbClr val="26405A"/>
          </a:solidFill>
          <a:ln w="19050">
            <a:solidFill>
              <a:srgbClr val="4F86C6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6675120" y="3017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Task List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31520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65683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5683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31520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76656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98398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32561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832561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98398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843534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52760" y="3474720"/>
            <a:ext cx="0" cy="68580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9994392" y="4160520"/>
            <a:ext cx="1316736" cy="457200"/>
          </a:xfrm>
          <a:prstGeom prst="roundRect">
            <a:avLst>
              <a:gd name="adj" fmla="val 12000"/>
            </a:avLst>
          </a:prstGeom>
          <a:solidFill>
            <a:srgbClr val="5B4B8A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994392" y="4160520"/>
            <a:ext cx="1316736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Teammate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0652760" y="5074920"/>
            <a:ext cx="0" cy="-27432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10104120" y="5029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498080" y="35844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9B4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tasks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73568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9646920" y="4389120"/>
            <a:ext cx="347472" cy="0"/>
          </a:xfrm>
          <a:prstGeom prst="line">
            <a:avLst/>
          </a:prstGeom>
          <a:noFill/>
          <a:ln w="19050">
            <a:solidFill>
              <a:srgbClr val="9B958A"/>
            </a:solidFill>
            <a:prstDash val="solid"/>
            <a:headEnd type="triangle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832104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B9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 report back to one main agent · agent teams coordinate via a shared task list.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457200" y="656539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Custom Sub Agents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security-scan sub agent in .claude/agents/ to find vulnerabilities and harden the site.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apply the recommended fixes.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lead-magnets: npx skills add https://github.com/coreyhaines31/marketingskills --skill lead-magnets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UI/UX review sub agent that uses lead-magnets to optimise for lead capture.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improvements and push to GitHub.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agents live in .claude/agents/ at the project level.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are shell commands that run automatically at defined points in Claude Code's lifecycle — letting you enforce rules, format code, or trigger actions without asking.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15468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PreToolUse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before a tool — validate or block an action.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74136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48456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616" y="315468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48456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PostToolUse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48456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a tool — auto-format or test.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199632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73952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31546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73952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73952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when Claude needs input or finishes.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25128" y="2743200"/>
            <a:ext cx="2706624" cy="27432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299448" y="301752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3154680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99448" y="37033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0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299448" y="4206240"/>
            <a:ext cx="2203704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cleanup or checks when a task ends.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56235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.claude/settings.json under "hooks".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HOOKS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with Hooks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not optional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always run at their event — they don't rely on the model deciding to.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after edits, run tests, block risky commands, send notifications.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"hooks" block to .claude/settings.json (matchers + commands).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0" y="1828800"/>
            <a:ext cx="5212080" cy="3291840"/>
          </a:xfrm>
          <a:prstGeom prst="roundRect">
            <a:avLst>
              <a:gd name="adj" fmla="val 1667"/>
            </a:avLst>
          </a:prstGeom>
          <a:solidFill>
            <a:srgbClr val="1B1A1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0" y="1965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6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.claude/settings.json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233172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
  "hooks": 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A7D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"PostToolUse":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"matcher": "Edit|Write",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"hooks": [{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"command",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"command":
          "npx prettier --write ."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5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receive event context on stdin as JSON — perfect for lint, format and guardrail scripts.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Hooks — Floating WhatsApp Widget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floating WhatsApp widget to the bottom-right of the website from Activity 1.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7767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27767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127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it as a round WhatsApp button that expands into a chat panel on click.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3863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386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223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Claude Code hook that fires 10 seconds after page load to auto-open the widget.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39959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39319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auto-open, prompt the user “Hi! How can I help you?” with suggested queries as quick-reply chips.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6055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605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5415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activation — let the visitor speak their question using the Web Speech API.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215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5215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261872" y="5151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Playwright MCP to test the 10-second auto-open, the suggested queries and the voice prompt.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live in .claude/hooks + .claude/settings.json; the widget behaviour lives in script.js.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D97757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50292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502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Test, Optimise &amp; Deploy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0058400" y="640080"/>
            <a:ext cx="1188720" cy="1188720"/>
          </a:xfrm>
          <a:prstGeom prst="ellipse">
            <a:avLst/>
          </a:prstGeom>
          <a:solidFill>
            <a:srgbClr val="2E2C26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08" y="932688"/>
            <a:ext cx="603504" cy="60350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216712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40080" y="2167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61872" y="210312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Playwright MCP to test the enquiry form end-to-end.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280720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40080" y="28072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261872" y="274320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all enquiries are sent to angch@tertiaryinfotech.com.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344728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4008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61872" y="338328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WhatsApp floating widget (bottom-right) with suggestive queries, linked to +65 9698 3731.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40080" y="408736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0080" y="40873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61872" y="402336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final security scan and lead-magnet UX review.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40080" y="4727448"/>
            <a:ext cx="438912" cy="438912"/>
          </a:xfrm>
          <a:prstGeom prst="ellipse">
            <a:avLst/>
          </a:prstGeom>
          <a:solidFill>
            <a:srgbClr val="D9775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40080" y="47274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261872" y="4663440"/>
            <a:ext cx="10515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E5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 version and verify the live site end-to-end.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2E2C26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86868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Record the live URL and the tests completed for your final verification.</a:t>
            </a:r>
            <a:pPr indent="0" marL="0">
              <a:buNone/>
            </a:pPr>
            <a:r>
              <a:rPr lang="en-US" sz="1300" i="1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65836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 ·  SUMMARY</a:t>
            </a:r>
          </a:p>
        </p:txBody>
      </p:sp>
      <p:sp>
        <p:nvSpPr>
          <p:cNvPr id="12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Triggers What</a:t>
            </a:r>
          </a:p>
        </p:txBody>
      </p:sp>
      <p:sp>
        <p:nvSpPr>
          <p:cNvPr id="1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ways to extend Claude Code — each one is loaded by a different trigger. Knowing which fires when is how you choose the right mechanism.</a:t>
            </a:r>
          </a:p>
        </p:txBody>
      </p:sp>
      <p:sp>
        <p:nvSpPr>
          <p:cNvPr id="16" name="Card 0"/>
          <p:cNvSpPr/>
          <p:nvPr/>
        </p:nvSpPr>
        <p:spPr>
          <a:xfrm>
            <a:off x="548640" y="190195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18" name="Tab 0"/>
          <p:cNvSpPr/>
          <p:nvPr/>
        </p:nvSpPr>
        <p:spPr>
          <a:xfrm>
            <a:off x="749808" y="207568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20" name="Name 0"/>
          <p:cNvSpPr/>
          <p:nvPr/>
        </p:nvSpPr>
        <p:spPr>
          <a:xfrm>
            <a:off x="960120" y="190195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</a:p>
        </p:txBody>
      </p:sp>
      <p:sp>
        <p:nvSpPr>
          <p:cNvPr id="22" name="Pill 0"/>
          <p:cNvSpPr/>
          <p:nvPr/>
        </p:nvSpPr>
        <p:spPr>
          <a:xfrm>
            <a:off x="3154680" y="211683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24" name="Badge 0"/>
          <p:cNvSpPr/>
          <p:nvPr/>
        </p:nvSpPr>
        <p:spPr>
          <a:xfrm>
            <a:off x="3154680" y="211683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SESSION</a:t>
            </a:r>
          </a:p>
        </p:txBody>
      </p:sp>
      <p:sp>
        <p:nvSpPr>
          <p:cNvPr id="26" name="Desc 0"/>
          <p:cNvSpPr/>
          <p:nvPr/>
        </p:nvSpPr>
        <p:spPr>
          <a:xfrm>
            <a:off x="5074920" y="190195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— read automatically at the start of every session, so it is always in context.</a:t>
            </a:r>
          </a:p>
        </p:txBody>
      </p:sp>
      <p:sp>
        <p:nvSpPr>
          <p:cNvPr id="28" name="Card 1"/>
          <p:cNvSpPr/>
          <p:nvPr/>
        </p:nvSpPr>
        <p:spPr>
          <a:xfrm>
            <a:off x="548640" y="2606040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30" name="Tab 1"/>
          <p:cNvSpPr/>
          <p:nvPr/>
        </p:nvSpPr>
        <p:spPr>
          <a:xfrm>
            <a:off x="749808" y="2779776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32" name="Name 1"/>
          <p:cNvSpPr/>
          <p:nvPr/>
        </p:nvSpPr>
        <p:spPr>
          <a:xfrm>
            <a:off x="960120" y="2606040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</a:p>
        </p:txBody>
      </p:sp>
      <p:sp>
        <p:nvSpPr>
          <p:cNvPr id="34" name="Pill 1"/>
          <p:cNvSpPr/>
          <p:nvPr/>
        </p:nvSpPr>
        <p:spPr>
          <a:xfrm>
            <a:off x="3154680" y="2820924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36" name="Badge 1"/>
          <p:cNvSpPr/>
          <p:nvPr/>
        </p:nvSpPr>
        <p:spPr>
          <a:xfrm>
            <a:off x="3154680" y="2820924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38" name="Desc 1"/>
          <p:cNvSpPr/>
          <p:nvPr/>
        </p:nvSpPr>
        <p:spPr>
          <a:xfrm>
            <a:off x="5074920" y="2606040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folders — Claude reads the name + description, and loads one when the task matches.</a:t>
            </a:r>
          </a:p>
        </p:txBody>
      </p:sp>
      <p:sp>
        <p:nvSpPr>
          <p:cNvPr id="40" name="Card 2"/>
          <p:cNvSpPr/>
          <p:nvPr/>
        </p:nvSpPr>
        <p:spPr>
          <a:xfrm>
            <a:off x="548640" y="3310128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42" name="Tab 2"/>
          <p:cNvSpPr/>
          <p:nvPr/>
        </p:nvSpPr>
        <p:spPr>
          <a:xfrm>
            <a:off x="749808" y="3483864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44" name="Name 2"/>
          <p:cNvSpPr/>
          <p:nvPr/>
        </p:nvSpPr>
        <p:spPr>
          <a:xfrm>
            <a:off x="960120" y="3310128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/ MCP</a:t>
            </a:r>
          </a:p>
        </p:txBody>
      </p:sp>
      <p:sp>
        <p:nvSpPr>
          <p:cNvPr id="46" name="Pill 2"/>
          <p:cNvSpPr/>
          <p:nvPr/>
        </p:nvSpPr>
        <p:spPr>
          <a:xfrm>
            <a:off x="3154680" y="3525012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48" name="Badge 2"/>
          <p:cNvSpPr/>
          <p:nvPr/>
        </p:nvSpPr>
        <p:spPr>
          <a:xfrm>
            <a:off x="3154680" y="3525012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</a:p>
        </p:txBody>
      </p:sp>
      <p:sp>
        <p:nvSpPr>
          <p:cNvPr id="50" name="Desc 2"/>
          <p:cNvSpPr/>
          <p:nvPr/>
        </p:nvSpPr>
        <p:spPr>
          <a:xfrm>
            <a:off x="5074920" y="3310128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and MCP tools — invoked by Claude during the agentic loop whenever the job needs them.</a:t>
            </a:r>
          </a:p>
        </p:txBody>
      </p:sp>
      <p:sp>
        <p:nvSpPr>
          <p:cNvPr id="52" name="Card 3"/>
          <p:cNvSpPr/>
          <p:nvPr/>
        </p:nvSpPr>
        <p:spPr>
          <a:xfrm>
            <a:off x="548640" y="4014216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54" name="Tab 3"/>
          <p:cNvSpPr/>
          <p:nvPr/>
        </p:nvSpPr>
        <p:spPr>
          <a:xfrm>
            <a:off x="749808" y="4187952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56" name="Name 3"/>
          <p:cNvSpPr/>
          <p:nvPr/>
        </p:nvSpPr>
        <p:spPr>
          <a:xfrm>
            <a:off x="960120" y="4014216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</a:t>
            </a:r>
          </a:p>
        </p:txBody>
      </p:sp>
      <p:sp>
        <p:nvSpPr>
          <p:cNvPr id="58" name="Pill 3"/>
          <p:cNvSpPr/>
          <p:nvPr/>
        </p:nvSpPr>
        <p:spPr>
          <a:xfrm>
            <a:off x="3154680" y="4229100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60" name="Badge 3"/>
          <p:cNvSpPr/>
          <p:nvPr/>
        </p:nvSpPr>
        <p:spPr>
          <a:xfrm>
            <a:off x="3154680" y="4229100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</a:t>
            </a:r>
          </a:p>
        </p:txBody>
      </p:sp>
      <p:sp>
        <p:nvSpPr>
          <p:cNvPr id="62" name="Desc 3"/>
          <p:cNvSpPr/>
          <p:nvPr/>
        </p:nvSpPr>
        <p:spPr>
          <a:xfrm>
            <a:off x="5074920" y="4014216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prompts in .claude/commands/ — they run only when you type /&lt;name&gt; yourself.</a:t>
            </a:r>
          </a:p>
        </p:txBody>
      </p:sp>
      <p:sp>
        <p:nvSpPr>
          <p:cNvPr id="64" name="Card 4"/>
          <p:cNvSpPr/>
          <p:nvPr/>
        </p:nvSpPr>
        <p:spPr>
          <a:xfrm>
            <a:off x="548640" y="4718304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66" name="Tab 4"/>
          <p:cNvSpPr/>
          <p:nvPr/>
        </p:nvSpPr>
        <p:spPr>
          <a:xfrm>
            <a:off x="749808" y="4892040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68" name="Name 4"/>
          <p:cNvSpPr/>
          <p:nvPr/>
        </p:nvSpPr>
        <p:spPr>
          <a:xfrm>
            <a:off x="960120" y="4718304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</a:t>
            </a:r>
          </a:p>
        </p:txBody>
      </p:sp>
      <p:sp>
        <p:nvSpPr>
          <p:cNvPr id="70" name="Pill 4"/>
          <p:cNvSpPr/>
          <p:nvPr/>
        </p:nvSpPr>
        <p:spPr>
          <a:xfrm>
            <a:off x="3154680" y="4933188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72" name="Badge 4"/>
          <p:cNvSpPr/>
          <p:nvPr/>
        </p:nvSpPr>
        <p:spPr>
          <a:xfrm>
            <a:off x="3154680" y="4933188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EVENT</a:t>
            </a:r>
          </a:p>
        </p:txBody>
      </p:sp>
      <p:sp>
        <p:nvSpPr>
          <p:cNvPr id="74" name="Desc 4"/>
          <p:cNvSpPr/>
          <p:nvPr/>
        </p:nvSpPr>
        <p:spPr>
          <a:xfrm>
            <a:off x="5074920" y="4718304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commands in settings.json — fired deterministically by a lifecycle event, not by the model.</a:t>
            </a:r>
          </a:p>
        </p:txBody>
      </p:sp>
      <p:sp>
        <p:nvSpPr>
          <p:cNvPr id="76" name="Card 5"/>
          <p:cNvSpPr/>
          <p:nvPr/>
        </p:nvSpPr>
        <p:spPr>
          <a:xfrm>
            <a:off x="548640" y="5422392"/>
            <a:ext cx="11064240" cy="6675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 wrap="square" rtlCol="0" anchor="ctr"/>
          <a:lstStyle/>
          <a:p/>
        </p:txBody>
      </p:sp>
      <p:sp>
        <p:nvSpPr>
          <p:cNvPr id="78" name="Tab 5"/>
          <p:cNvSpPr/>
          <p:nvPr/>
        </p:nvSpPr>
        <p:spPr>
          <a:xfrm>
            <a:off x="749808" y="5596128"/>
            <a:ext cx="68580" cy="32004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  <p:txBody>
          <a:bodyPr wrap="square" rtlCol="0" anchor="ctr"/>
          <a:lstStyle/>
          <a:p/>
        </p:txBody>
      </p:sp>
      <p:sp>
        <p:nvSpPr>
          <p:cNvPr id="80" name="Name 5"/>
          <p:cNvSpPr/>
          <p:nvPr/>
        </p:nvSpPr>
        <p:spPr>
          <a:xfrm>
            <a:off x="960120" y="5422392"/>
            <a:ext cx="2148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kern="0" dirty="0">
                <a:solidFill>
                  <a:srgbClr val="C26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Agents</a:t>
            </a:r>
          </a:p>
        </p:txBody>
      </p:sp>
      <p:sp>
        <p:nvSpPr>
          <p:cNvPr id="82" name="Pill 5"/>
          <p:cNvSpPr/>
          <p:nvPr/>
        </p:nvSpPr>
        <p:spPr>
          <a:xfrm>
            <a:off x="3154680" y="5637276"/>
            <a:ext cx="1691640" cy="283464"/>
          </a:xfrm>
          <a:prstGeom prst="roundRect">
            <a:avLst>
              <a:gd name="adj" fmla="val 50000"/>
            </a:avLst>
          </a:prstGeom>
          <a:solidFill>
            <a:srgbClr val="21201C"/>
          </a:solidFill>
          <a:ln/>
        </p:spPr>
        <p:txBody>
          <a:bodyPr wrap="square" rtlCol="0" anchor="ctr"/>
          <a:lstStyle/>
          <a:p/>
        </p:txBody>
      </p:sp>
      <p:sp>
        <p:nvSpPr>
          <p:cNvPr id="84" name="Badge 5"/>
          <p:cNvSpPr/>
          <p:nvPr/>
        </p:nvSpPr>
        <p:spPr>
          <a:xfrm>
            <a:off x="3154680" y="5637276"/>
            <a:ext cx="1691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algn="ctr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DELEGATION</a:t>
            </a:r>
          </a:p>
        </p:txBody>
      </p:sp>
      <p:sp>
        <p:nvSpPr>
          <p:cNvPr id="86" name="Desc 5"/>
          <p:cNvSpPr/>
          <p:nvPr/>
        </p:nvSpPr>
        <p:spPr>
          <a:xfrm>
            <a:off x="5074920" y="5422392"/>
            <a:ext cx="68580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assistants with their own context — spawned when the main agent delegates a job.</a:t>
            </a:r>
          </a:p>
        </p:txBody>
      </p:sp>
      <p:sp>
        <p:nvSpPr>
          <p:cNvPr id="88" name="Tip"/>
          <p:cNvSpPr/>
          <p:nvPr/>
        </p:nvSpPr>
        <p:spPr>
          <a:xfrm>
            <a:off x="548640" y="62179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b="0" kern="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context is expensive — keep CLAUDE.md tight and push specialised, occasional procedures into skills, commands and sub agents.</a:t>
            </a:r>
          </a:p>
        </p:txBody>
      </p:sp>
      <p:sp>
        <p:nvSpPr>
          <p:cNvPr id="90" name="Foot L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</a:p>
        </p:txBody>
      </p:sp>
      <p:sp>
        <p:nvSpPr>
          <p:cNvPr id="92" name="Foot C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</a:p>
        </p:txBody>
      </p:sp>
      <p:sp>
        <p:nvSpPr>
          <p:cNvPr id="94" name="Foot N"/>
          <p:cNvSpPr/>
          <p:nvPr/>
        </p:nvSpPr>
        <p:spPr>
          <a:xfrm>
            <a:off x="11373427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0" kern="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Q&amp;A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1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338328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loop and context engineering power everything Claude Code does.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27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94436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2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383280" y="294436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commands and MCP tools automate and extend your workflow.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831336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777240" y="4014216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5137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96849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 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338328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Skills, sub agents and hooks make Claude a specialised teammate.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4855464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777240" y="5038344"/>
            <a:ext cx="548640" cy="548640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17550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9926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60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Build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3383280" y="499262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built, deployed, tested, secured and optimised a real website.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assessment stage, follow these five steps in order.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87121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04672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4672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04672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TRAQOM QR code on the LMS and complete the survey.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81304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98064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54096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12" y="2871216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54096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054096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054096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assessment digital attendance.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81304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47488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303520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1536" y="2871216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03520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303520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303520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WA &amp; PP.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381304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296912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552944" y="2743200"/>
            <a:ext cx="512064" cy="512064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2871216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552944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7552944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 Answers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552944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your assessment answers on the LMS.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5168" y="381304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546336" y="2468880"/>
            <a:ext cx="1993392" cy="28346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02368" y="2743200"/>
            <a:ext cx="512064" cy="512064"/>
          </a:xfrm>
          <a:prstGeom prst="ellipse">
            <a:avLst/>
          </a:prstGeom>
          <a:solidFill>
            <a:srgbClr val="3A7D7B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2871216"/>
            <a:ext cx="256032" cy="25603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802368" y="3364992"/>
            <a:ext cx="1536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7" name="Text 26"/>
          <p:cNvSpPr/>
          <p:nvPr/>
        </p:nvSpPr>
        <p:spPr>
          <a:xfrm>
            <a:off x="9802368" y="3639312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the Record</a:t>
            </a:r>
            <a:endParaRPr lang="en-US" sz="1400" dirty="0"/>
          </a:p>
        </p:txBody>
      </p:sp>
      <p:sp>
        <p:nvSpPr>
          <p:cNvPr id="38" name="Text 27"/>
          <p:cNvSpPr/>
          <p:nvPr/>
        </p:nvSpPr>
        <p:spPr>
          <a:xfrm>
            <a:off x="9802368" y="4160520"/>
            <a:ext cx="15727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your Assessment Summary Record.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indent="0" marL="0">
              <a:buNone/>
            </a:pPr>
            <a:r>
              <a:rPr lang="en-US" sz="1300" i="1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Courseware and the assessment are on the LMS: https://lms-tms.tertiaryinfotech.com/</a:t>
            </a:r>
            <a:endParaRPr lang="en-US" sz="1300" dirty="0"/>
          </a:p>
        </p:txBody>
      </p:sp>
      <p:sp>
        <p:nvSpPr>
          <p:cNvPr id="40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TRAQOM Survey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TRAQOM Survey (Mandatory)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certification &amp; TRAQOM survey to receive your certificate.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ai-lms-tms.tertiaryinfo.tech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920240"/>
            <a:ext cx="5394960" cy="3108960"/>
          </a:xfrm>
          <a:prstGeom prst="roundRect">
            <a:avLst>
              <a:gd name="adj" fmla="val 2353"/>
            </a:avLst>
          </a:prstGeom>
          <a:solidFill>
            <a:srgbClr val="21201C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D97757"/>
          </a:solidFill>
          <a:ln/>
          <a:effectLst>
            <a:outerShdw sx="100000" sy="100000" kx="0" ky="0" algn="bl" rotWithShape="0" blurRad="101600" dist="381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3172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Attendance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301752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take AM, PM and Assessment digital attendance — required for your funding.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Tertiary Infotech Academy Pte Ltd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Applications with Claude Code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12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D9775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657600" cy="3657600"/>
          </a:xfrm>
          <a:prstGeom prst="ellipse">
            <a:avLst/>
          </a:prstGeom>
          <a:solidFill>
            <a:srgbClr val="3A7D7B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C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here to help — during and after class.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enquiry@tertiaryinfotech.com   |   +65 6100 0613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Applications with Claude Code</dc:title>
  <dc:subject>PptxGenJS Presentation</dc:subject>
  <dc:creator>Dr. Alfred Ang</dc:creator>
  <cp:lastModifiedBy>Dr. Alfred Ang</cp:lastModifiedBy>
  <cp:revision>1</cp:revision>
  <dcterms:created xsi:type="dcterms:W3CDTF">2026-06-27T18:49:35Z</dcterms:created>
  <dcterms:modified xsi:type="dcterms:W3CDTF">2026-06-27T18:49:35Z</dcterms:modified>
</cp:coreProperties>
</file>