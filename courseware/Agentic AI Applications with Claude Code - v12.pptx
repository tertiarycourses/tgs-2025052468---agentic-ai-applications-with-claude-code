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hyperlink" Target="https://www.linkedin.com/in/angchewhoe/" TargetMode="External"/><Relationship Id="rId9" Type="http://schemas.openxmlformats.org/officeDocument/2006/relationships/hyperlink" Target="https://github.com/alfredang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8" Type="http://schemas.openxmlformats.org/officeDocument/2006/relationships/image" Target="../media/image-4-7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image" Target="../media/image-58-5.png"/><Relationship Id="rId6" Type="http://schemas.openxmlformats.org/officeDocument/2006/relationships/image" Target="../media/image-5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image" Target="../media/image-62-5.png"/><Relationship Id="rId6" Type="http://schemas.openxmlformats.org/officeDocument/2006/relationships/image" Target="../media/image-62-6.png"/><Relationship Id="rId7" Type="http://schemas.openxmlformats.org/officeDocument/2006/relationships/image" Target="../media/image-62-7.png"/><Relationship Id="rId8" Type="http://schemas.openxmlformats.org/officeDocument/2006/relationships/image" Target="../media/image-62-8.png"/><Relationship Id="rId9" Type="http://schemas.openxmlformats.org/officeDocument/2006/relationships/image" Target="../media/image-6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WSQ COURSE  •  TGS-2025052468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241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Applications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Claude Code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Infotech Academy Pte Ltd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UEN: 201200696W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www.tertiarycourses.com.sg   |   enquiry@tertiaryinfotech.com   |   +65 6100 0613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997135" y="1371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12.0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62495" y="6355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Attendance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874520"/>
            <a:ext cx="6583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mandatory for SSG funding.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AM, PM and Assessment digital attendance for every session.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SSG / TMS QR code provided by your trainer.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229600" y="182880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0" y="237744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 required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Trainer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91840" cy="3291840"/>
          </a:xfrm>
          <a:prstGeom prst="roundRect">
            <a:avLst>
              <a:gd name="adj" fmla="val 3333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452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996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Trainer Name ]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Title / Role ]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06240" y="18288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684" y="19522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92040" y="178308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Qualifications:  ____________________________________________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06240" y="2670048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84" y="279349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624328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Expertise:  _________________________________________________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4206240" y="3511296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684" y="3634740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92040" y="3465576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Experience:  ________________________________________________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206240" y="4352544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9684" y="4475988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892040" y="4306824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/ Profile:  __________________________________________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Trainer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91840" cy="3291840"/>
          </a:xfrm>
          <a:prstGeom prst="roundRect">
            <a:avLst>
              <a:gd name="adj" fmla="val 3333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452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996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Alfred Ang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Trainer &amp; Engineer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06240" y="18288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684" y="19522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92040" y="178308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PhD-qualified trainer specialising in AI, software engineering and developer tooling.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206240" y="2633472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84" y="275691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587752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experience building agentic AI applications with Claude Code.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206240" y="3438144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684" y="3561588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92040" y="3392424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professionals across Singapore on practical, project-based AI skills.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4206240" y="4242816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9684" y="4366260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892040" y="4197096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Certifications: PMP, AWS, Microsoft, CompTIA, CKA, CKAD.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4206240" y="5093208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0540" y="5207508"/>
            <a:ext cx="274320" cy="274320"/>
          </a:xfrm>
          <a:prstGeom prst="rect">
            <a:avLst/>
          </a:prstGeom>
        </p:spPr>
      </p:pic>
      <p:sp>
        <p:nvSpPr>
          <p:cNvPr id="23" name="Text 15">
            <a:hlinkClick r:id="rId7" tooltip=""/>
          </p:cNvPr>
          <p:cNvSpPr/>
          <p:nvPr/>
        </p:nvSpPr>
        <p:spPr>
          <a:xfrm>
            <a:off x="4892040" y="5047488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linkedin.com/in/angchewhoe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229600" y="5093208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3900" y="5207508"/>
            <a:ext cx="274320" cy="274320"/>
          </a:xfrm>
          <a:prstGeom prst="rect">
            <a:avLst/>
          </a:prstGeom>
        </p:spPr>
      </p:pic>
      <p:sp>
        <p:nvSpPr>
          <p:cNvPr id="26" name="Text 17">
            <a:hlinkClick r:id="rId9" tooltip=""/>
          </p:cNvPr>
          <p:cNvSpPr/>
          <p:nvPr/>
        </p:nvSpPr>
        <p:spPr>
          <a:xfrm>
            <a:off x="8915400" y="5047488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github.com/alfredang</a:t>
            </a:r>
            <a:endParaRPr lang="en-US" sz="1500" dirty="0"/>
          </a:p>
        </p:txBody>
      </p:sp>
      <p:sp>
        <p:nvSpPr>
          <p:cNvPr id="27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D97757">
              <a:alpha val="17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Know Each Other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minute to introduce yourself to the class: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51660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8820" y="40233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&amp; role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593592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22292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2" y="40233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30752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do day to day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64224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92924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084" y="40233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01384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coding experience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134856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163556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716" y="40233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272016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want from this course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Rules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21808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Phones on silent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out quietly for calls or breaks.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5112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156" y="21808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Participate actively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53712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question is stupid — ask freely.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01584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30184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218084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Mutual respect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330184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to disagree; one conversation at a time.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" y="378104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punctual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77240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from breaks on time.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25112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53712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7156" y="3781044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93792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 attendance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553712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funding eligibility.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101584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30184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3628" y="3781044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70264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hands-on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330184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 with every activity.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93592" cy="42062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3044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Fundamentals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657600"/>
            <a:ext cx="29992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the Agentic Loop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Memory &amp; Sessions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&amp; Scheduled Tasks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Build &amp; deploy a website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737360"/>
            <a:ext cx="3593592" cy="42062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011680"/>
            <a:ext cx="731520" cy="73152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99432" y="2880360"/>
            <a:ext cx="3044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Commands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657600"/>
            <a:ext cx="29992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MCP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Activities: /gitpush + MCP screenshot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1737360"/>
            <a:ext cx="3593592" cy="4206240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5904" y="2011680"/>
            <a:ext cx="731520" cy="73152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8375904" y="2011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75904" y="2880360"/>
            <a:ext cx="3044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Skills, Agents &amp; Hooks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21624" y="3657600"/>
            <a:ext cx="29992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Capstone Project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Plan (9:00 AM – 6:00 PM)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3268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Time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0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Session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01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9:00 – 9:30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Welcome, admin, attendance (AM), introductions, ground rules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9:30 – 10:30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1.1: setup, agentic loop &amp; tools, permission modes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10:30 – 10:40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Morning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10:40 – 11:20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1.2: context, memory, sessions, scheduled tasks, /goal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11:20 – 12:30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1: Build &amp; deploy a website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12:30 – 1:15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Lunch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1:15 – 1:45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2: Custom commands · Activity 2: /gitpush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1:45 – 2:45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2: MCP tools · Activity 3: Playwright screenshot + form 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2:45 – 2:55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6B68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Afternoon 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2:55 – 3:40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3: Agent skills · Activity 4: frontend-design &amp; SEO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3:40 – 4:25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3: Sub agents &amp; hooks · Activity 5: security + UX 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4:25 – 4:50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 Capstone · Activity 6 + capstone presentations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4:50 – 5:00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Summary, Q&amp;A, attendance (PM)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6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 – 6:00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1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Assessment: 30 min WA + 30 min PP (on the LMS)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Briefing for Assessment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21808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your space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phones and other materials under the table or on the floor.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25112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156" y="21808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recording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53712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photos or recording of assessment materials.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01584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30184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218084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book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330184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slides, learner guide and approved materials are allowed.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" y="378104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individually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77240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assessment on your own; no discussion.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25112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53712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7156" y="3781044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93792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your time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553712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Assessment then Practical Performance — watch the clock.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01584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30184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3628" y="3781044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70264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Appeals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330184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appeal process is available if you disagree with the outcome.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&amp; Funding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103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Assessment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Assessment (WA) — 30 min, starts 5:00 PM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Performance (PP) — 30 min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Open book — class ends 6:00 PM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Allowed: slides, learner guide &amp; approved materials only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 process available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4023360"/>
          </a:xfrm>
          <a:prstGeom prst="roundRect">
            <a:avLst>
              <a:gd name="adj" fmla="val 1818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05740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19456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69480" y="2103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Criteria for Funding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29400" y="2926080"/>
            <a:ext cx="4754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75% attendance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SSG digital attendance records.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as ‘Competent’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 pass both assessment components.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D97757">
              <a:alpha val="17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MANAGEMENT SYSTEM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Courseware &amp; Assessment on the LMS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57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 the courseware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468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slides and learner guide from the LMS for the open-book assessment.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918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108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the assessment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371600" y="35204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Written Assessment and Practical Performance on the LMS.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434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in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371600" y="4572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enrolled account to access the course materials and assessment.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40080" y="5440680"/>
            <a:ext cx="10881360" cy="640080"/>
          </a:xfrm>
          <a:prstGeom prst="roundRect">
            <a:avLst>
              <a:gd name="adj" fmla="val 14286"/>
            </a:avLst>
          </a:prstGeom>
          <a:solidFill>
            <a:srgbClr val="2E2C26"/>
          </a:solidFill>
          <a:ln/>
        </p:spPr>
      </p:sp>
      <p:sp>
        <p:nvSpPr>
          <p:cNvPr id="18" name="Text 13">
            <a:hlinkClick r:id="rIdundefined" tooltip=""/>
          </p:cNvPr>
          <p:cNvSpPr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LMS:  </a:t>
            </a:r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https://lms-tms.tertiaryinfotech.com/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D97757">
              <a:alpha val="1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251460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Fundamentals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8321040" y="1463040"/>
            <a:ext cx="3200400" cy="2724912"/>
          </a:xfrm>
          <a:prstGeom prst="roundRect">
            <a:avLst>
              <a:gd name="adj" fmla="val 3356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49640" y="17556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05256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of Claude Code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49640" y="23225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52560" y="23042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49640" y="28895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052560" y="287121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49640" y="34564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052560" y="34381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Build a website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Claude Product Family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offers several Claude products — here's how they differ so you know which is which.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72030" cy="301752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974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246120"/>
            <a:ext cx="156911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Claude.ai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730752"/>
            <a:ext cx="1614830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chat assistant on web, desktop &amp; mobile for everyday tasks.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803550" y="2286000"/>
            <a:ext cx="2072030" cy="301752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7787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030" y="26974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77870" y="3246120"/>
            <a:ext cx="156911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077870" y="3730752"/>
            <a:ext cx="1614830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tool in your terminal, IDE &amp; desktop.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058461" y="2286000"/>
            <a:ext cx="2072030" cy="301752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332781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941" y="26974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332781" y="3246120"/>
            <a:ext cx="156911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Cowork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5332781" y="3730752"/>
            <a:ext cx="1614830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agent for non-developers to automate files &amp; tasks.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313371" y="2286000"/>
            <a:ext cx="2072030" cy="301752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587691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4851" y="26974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87691" y="3246120"/>
            <a:ext cx="156911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Design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7587691" y="3730752"/>
            <a:ext cx="1614830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polished UI &amp; frontend designs.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9568282" y="2286000"/>
            <a:ext cx="2072030" cy="3017520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842602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9762" y="2697480"/>
            <a:ext cx="292608" cy="29260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842602" y="3246120"/>
            <a:ext cx="156911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for Microsoft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9842602" y="3730752"/>
            <a:ext cx="1614830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inside Microsoft 365 &amp; Outlook.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548640" y="55321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are powered by the same Claude models — they differ in where they run and who they're for.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Evolution of AI Engineering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3657600"/>
            <a:ext cx="9418320" cy="0"/>
          </a:xfrm>
          <a:prstGeom prst="line">
            <a:avLst/>
          </a:prstGeom>
          <a:noFill/>
          <a:ln w="25400">
            <a:solidFill>
              <a:srgbClr val="6B6862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73152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Engineering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9164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9164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the wording of a single prompt to get good output.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56616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Engineering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2628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044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what the model sees — files, memory and tools.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 Engineering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6092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6092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5508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system around the model: loop, tools, verification.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052560" y="2148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 Systems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012680" y="3246120"/>
            <a:ext cx="822960" cy="82296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012680" y="3246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06840" y="42519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run long tasks autonomously — Claude Code, Cowork, Codex.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capable models shift the work from wording prompts → curating context → engineering the whole harness.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Harness Engineering?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harness is the system built around the model — the agentic loop, tools, context management, verification and guardrails — that turns a capable model into an agent which can complete long-running tasks. Harness engineering is designing that scaffolding (and stripping it back as models improve).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harness provides: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5212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access (files, shell, MCP)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memory management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guardrails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09360" y="2697480"/>
            <a:ext cx="5303520" cy="2651760"/>
          </a:xfrm>
          <a:prstGeom prst="roundRect">
            <a:avLst>
              <a:gd name="adj" fmla="val 3448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 of harness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0" y="338328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338328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098280" y="338328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</p:sp>
      <p:sp>
        <p:nvSpPr>
          <p:cNvPr id="12" name="Text 10"/>
          <p:cNvSpPr/>
          <p:nvPr/>
        </p:nvSpPr>
        <p:spPr>
          <a:xfrm>
            <a:off x="9098280" y="338328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0" y="3986784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3986784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Codex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98280" y="3986784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</p:sp>
      <p:sp>
        <p:nvSpPr>
          <p:cNvPr id="16" name="Text 14"/>
          <p:cNvSpPr/>
          <p:nvPr/>
        </p:nvSpPr>
        <p:spPr>
          <a:xfrm>
            <a:off x="9098280" y="3986784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0" y="4590288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4590288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98280" y="4590288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/>
        </p:spPr>
      </p:sp>
      <p:sp>
        <p:nvSpPr>
          <p:cNvPr id="20" name="Text 18"/>
          <p:cNvSpPr/>
          <p:nvPr/>
        </p:nvSpPr>
        <p:spPr>
          <a:xfrm>
            <a:off x="9098280" y="4590288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Agent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5778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simplest harness that works — and re-examine it with every new, more capable model.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Claude Code?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an agentic coding tool that lives in your terminal. You describe a goal in plain English, and Claude plans, writes, runs and verifies the work — editing files, running commands and using tools on your behalf.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2461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Terminal-native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where you already work — no heavy IDE required.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8456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32461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8456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multi-step tasks and acts, not just autocompletes.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73952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32461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Tool-using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73952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Reads/writes files, runs bash, calls MCP servers.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99448" y="31089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2461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Extensible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99448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commands, skills, sub-agents and hooks.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Claude Code Can 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handles real engineering tasks end to end — describe the outcome and it does the work.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4320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features, apps and whole projects from a prompt.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1598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432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 &amp; fix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fix errors; read logs and stack traces.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60236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4320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Refactor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Improve, restructure and document existing code.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31720"/>
            <a:ext cx="2635758" cy="265176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8874" y="26060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4320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29184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776472"/>
            <a:ext cx="217855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git, tests, deployment and CI/CD workflows.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use cases:  </a:t>
            </a:r>
            <a:pPr indent="0" marL="0">
              <a:buNone/>
            </a:pPr>
            <a:r>
              <a:rPr lang="en-US" sz="13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sites &amp; landing pages · internal web tools · full-stack apps · mobile apps · scripts &amp; automations · data tasks.</a:t>
            </a:r>
            <a:endParaRPr lang="en-US" sz="135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Claude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agentic loop runs everywhere — choose the interface that fits how you work.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3575304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9748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3464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8328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67912"/>
            <a:ext cx="311810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CLI, then run `claude` in any project.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Mac/Linux: curl -fsSL claude.ai/install.sh | bash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06824" y="2423160"/>
            <a:ext cx="3575304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1144" y="269748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83464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81144" y="338328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 (VS Code)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81144" y="3867912"/>
            <a:ext cx="311810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Claude Code extension (also Cursor &amp; JetBrains): inline diffs, @-mentions, plan review.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65008" y="2423160"/>
            <a:ext cx="3575304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9328" y="269748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28346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9328" y="3383280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Desktop App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339328" y="3867912"/>
            <a:ext cx="311810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GUI for parallel sessions, scheduled tasks and connectors — runs on your machine.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55321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 yet? In VS Code just ask Claude Code: “install claude cli in the terminal for me.”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Pricing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included in the subscription plans (from Pro up) and is also available pay-as-you-go via the API.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0604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$17/mo (annual) · $20 monthly. Claude Code included.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1598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60604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$100/mo — 5× or 20× more usage than Pro.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60236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6060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$20/seat standard · $100/seat premium (5× usage).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194560"/>
            <a:ext cx="263575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8874" y="246888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60604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15468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639312"/>
            <a:ext cx="2178558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$20/seat + usage at API rates. Contact sales.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48920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pay-as-you-go (per million tokens, input / output):  </a:t>
            </a:r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4.8 $5 / $25   ·   Sonnet 4.6 $3 / $15   ·   Haiku 4.5 $1 / $5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plan is also available. Prices as of June 2026 — verify at claude.com/pricing.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AGENTIC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Loop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Claude Code task runs the same repeating cycle. Understanding this loop is the key to working effectively with an agent.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3464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97180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Gather Context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run searches,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tools to understand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4992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8346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29718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9312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Take Action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39312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code, run commands,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MCP tools to make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1344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55664" y="283464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297180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55664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Verify Work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55664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tests, lint, view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check the result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correct.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997696" y="2560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2016" y="283464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176" y="297180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2016" y="3520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Repeat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2016" y="40233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results back as new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and loop until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met.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in → context → action → verification → repeat → goal met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AGENTIC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loop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659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783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direction, not micro-steps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217627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goal and constraints clearly; let the loop figure out the steps.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816352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5351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7706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is everything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371600" y="3163824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only as good as its ability to check its own work — provide tests, linters, screenshots.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3803904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41064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3758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 mid-loop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371600" y="4151376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plan, interrupt, and course-correct rather than waiting for a wrong final answer.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40080" y="4791456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474573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is the fuel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371600" y="51389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can see determines what it can do — leading us to context engineering.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Built-in Tools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are what make Claude Code agentic. Each tool use returns information that feeds the next decision in the loop.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 ops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edit, create, rename and reorganise files.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files by pattern, grep content, explore code.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shell commands, tests, builds and git.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web and fetch docs or error messages.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subagents, code intelligence and your configured extensions (MCP, skills, hooks).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AGENTIC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Loop in 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2E2C2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0020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 </a:t>
            </a:r>
            <a:pPr indent="0" marL="0">
              <a:buNone/>
            </a:pPr>
            <a:r>
              <a:rPr lang="en-US" sz="1400" i="1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“Build a responsive software-dev website with an enquiry form, then test it.”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5176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2468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Gather context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394960" y="24688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folder &amp; CLAUDE.md; plans the hero, testimonials and form sections.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3355848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49300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33101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Take action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394960" y="3310128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index.html, styles.css and script.js with form validation.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197096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4151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Verify work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5394960" y="4151376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page via Playwright MCP and submits the form to test it.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0080" y="5038344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17550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71600" y="499262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Repeat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394960" y="4992624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a validation bug, fixes script.js, re-tests — then reports done.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Steps to Build an App with Claude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478024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1468" y="2180844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&amp; Features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04672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what to build (draft the prompt with ChatGPT).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74136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30168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3" name="Text 10"/>
          <p:cNvSpPr/>
          <p:nvPr/>
        </p:nvSpPr>
        <p:spPr>
          <a:xfrm>
            <a:off x="3630168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303520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964" y="2180844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30168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Mode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3630168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Claude plan before coding (Shift+Tab).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99632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55664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0" name="Text 16"/>
          <p:cNvSpPr/>
          <p:nvPr/>
        </p:nvSpPr>
        <p:spPr>
          <a:xfrm>
            <a:off x="6455664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8129016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2460" y="2180844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455664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6455664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plan in Bypass Permissions mode.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9025128" y="178308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281160" y="203911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7" name="Text 22"/>
          <p:cNvSpPr/>
          <p:nvPr/>
        </p:nvSpPr>
        <p:spPr>
          <a:xfrm>
            <a:off x="9281160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10954512" y="20574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7956" y="2180844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281160" y="269748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(/init)</a:t>
            </a:r>
            <a:endParaRPr lang="en-US" sz="1450" dirty="0"/>
          </a:p>
        </p:txBody>
      </p:sp>
      <p:sp>
        <p:nvSpPr>
          <p:cNvPr id="31" name="Text 25"/>
          <p:cNvSpPr/>
          <p:nvPr/>
        </p:nvSpPr>
        <p:spPr>
          <a:xfrm>
            <a:off x="9281160" y="304495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CLAUDE.md to capture project context.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48640" y="365760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804672" y="391363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34" name="Text 28"/>
          <p:cNvSpPr/>
          <p:nvPr/>
        </p:nvSpPr>
        <p:spPr>
          <a:xfrm>
            <a:off x="804672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Shape 29"/>
          <p:cNvSpPr/>
          <p:nvPr/>
        </p:nvSpPr>
        <p:spPr>
          <a:xfrm>
            <a:off x="2478024" y="393192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1468" y="4055364"/>
            <a:ext cx="256032" cy="25603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804672" y="457200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 to GitHub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804672" y="491947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 and push your code.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3374136" y="365760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3630168" y="391363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41" name="Text 34"/>
          <p:cNvSpPr/>
          <p:nvPr/>
        </p:nvSpPr>
        <p:spPr>
          <a:xfrm>
            <a:off x="3630168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2" name="Shape 35"/>
          <p:cNvSpPr/>
          <p:nvPr/>
        </p:nvSpPr>
        <p:spPr>
          <a:xfrm>
            <a:off x="5303520" y="393192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6964" y="4055364"/>
            <a:ext cx="256032" cy="256032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3630168" y="457200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45" name="Text 37"/>
          <p:cNvSpPr/>
          <p:nvPr/>
        </p:nvSpPr>
        <p:spPr>
          <a:xfrm>
            <a:off x="3630168" y="491947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app (e.g. GitHub Pages).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6199632" y="3657600"/>
            <a:ext cx="2706624" cy="1691640"/>
          </a:xfrm>
          <a:prstGeom prst="roundRect">
            <a:avLst>
              <a:gd name="adj" fmla="val 4324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6455664" y="3913632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48" name="Text 40"/>
          <p:cNvSpPr/>
          <p:nvPr/>
        </p:nvSpPr>
        <p:spPr>
          <a:xfrm>
            <a:off x="6455664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49" name="Shape 41"/>
          <p:cNvSpPr/>
          <p:nvPr/>
        </p:nvSpPr>
        <p:spPr>
          <a:xfrm>
            <a:off x="8129016" y="393192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460" y="4055364"/>
            <a:ext cx="256032" cy="256032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6455664" y="4572000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</a:t>
            </a:r>
            <a:endParaRPr lang="en-US" sz="1450" dirty="0"/>
          </a:p>
        </p:txBody>
      </p:sp>
      <p:sp>
        <p:nvSpPr>
          <p:cNvPr id="52" name="Text 43"/>
          <p:cNvSpPr/>
          <p:nvPr/>
        </p:nvSpPr>
        <p:spPr>
          <a:xfrm>
            <a:off x="6455664" y="491947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build &amp; deploy with GitHub Actions.</a:t>
            </a:r>
            <a:endParaRPr lang="en-US" sz="1100" dirty="0"/>
          </a:p>
        </p:txBody>
      </p:sp>
      <p:sp>
        <p:nvSpPr>
          <p:cNvPr id="53" name="Text 44"/>
          <p:cNvSpPr/>
          <p:nvPr/>
        </p:nvSpPr>
        <p:spPr>
          <a:xfrm>
            <a:off x="548640" y="5623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do steps 1–3 now (Activity 1a), then context engineering, then steps 4–7 (Activity 1b).</a:t>
            </a:r>
            <a:endParaRPr lang="en-US" sz="1300" dirty="0"/>
          </a:p>
        </p:txBody>
      </p:sp>
      <p:sp>
        <p:nvSpPr>
          <p:cNvPr id="54" name="Text 4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55" name="Text 46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56" name="Text 47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GOAL &amp;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a Clear Prompt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goal &amp; features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clearer the brief, the better the build.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ChatGPT to draft it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ChatGPT to expand your idea into a detailed prompt, then paste it into Claude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essentials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· sections · behaviour · styling · deliverable.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852160" y="1783080"/>
            <a:ext cx="5760720" cy="3931920"/>
          </a:xfrm>
          <a:prstGeom prst="roundRect">
            <a:avLst>
              <a:gd name="adj" fmla="val 1395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26480" y="1920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prompt (software-dev website)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26480" y="2240280"/>
            <a:ext cx="5303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a single-page, responsive website
for a software development company
(HTML, CSS, vanilla JS — no frameworks).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Goal: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services + capture leads.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Sections: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1) Hero + CTA  2) 3 testimonial
cards  3) Enquiry form (JS validation,
console.log, commented fetch()).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Styling: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mobile-first, CSS variables,
Google Font, smooth scroll, accessible.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Deliverable: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by opening the file.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prompt is in your Learner Guide (Activity 1).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PERMISSIONS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Modes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modes control how often Claude pauses to ask before editing files or running commands.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freely; asks before edits and shell commands.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acceptEdits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Auto-approves file edits and common filesystem commands.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Explores and proposes a plan without editing source.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background safety checks (research preview).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Shift+Tab to cycle modes; the current mode shows in the status bar.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023360" cy="4023360"/>
          </a:xfrm>
          <a:prstGeom prst="ellipse">
            <a:avLst/>
          </a:prstGeom>
          <a:solidFill>
            <a:srgbClr val="D97757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PERMISSIONS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 Permissions — Handle with Care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731520" cy="731520"/>
          </a:xfrm>
          <a:prstGeom prst="ellipse">
            <a:avLst/>
          </a:prstGeom>
          <a:solidFill>
            <a:srgbClr val="C2603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209397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bypassPermissions  /  --dangerously-skip-permissions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788920"/>
            <a:ext cx="10789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all permission prompts and safety checks — tool calls run immediately.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NO protection against prompt injection or unintended actions.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in isolated containers / VMs without internet access.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to start as root/sudo; cannot be entered mid-session.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auto mode for fewer prompts WITH background safety checks.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EXECUTE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 Permissions in VS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let Claude build hands-free, enable bypass-permissions mode — use it only in a trusted, sandboxed project.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5577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VS Code Settings → Extensions → Claude Code.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Enable “Allow dangerously skip permissions”.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 the prompt box, open the mode selector.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Choose “Bypass permissions”.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Give your build prompt — Claude runs without per-action prompts.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377440"/>
            <a:ext cx="5212080" cy="1828800"/>
          </a:xfrm>
          <a:prstGeom prst="roundRect">
            <a:avLst>
              <a:gd name="adj" fmla="val 3000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7512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equivalent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288036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\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--dangerously-skip-permissions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4434840"/>
            <a:ext cx="5212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pPr indent="0" marL="0">
              <a:buNone/>
            </a:pPr>
            <a:r>
              <a:rPr lang="en-US" sz="1300" i="1" dirty="0">
                <a:solidFill>
                  <a:srgbClr val="C26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safety checks or prompt-injection protection. Sandboxed / trusted projects only — prefer auto mode otherwise.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Goal, Plan &amp; Build (Steps 1–3)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Goal &amp; Features: draft a detailed build prompt (use ChatGPT) for the software-dev website.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Plan Mode: have Claude plan the build (Shift+Tab) and review the plan.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Execute: approve the plan and build the site in Bypass Permissions mode.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index.html and check the hero, testimonials and enquiry form work.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</p:sp>
      <p:sp>
        <p:nvSpPr>
          <p:cNvPr id="21" name="Text 18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website prompt is in your Learner Guide (Activity 1).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CONTEXT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Engineering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is the practice of curating exactly what Claude sees — instructions, files and tools — so it has the right information and nothing that wastes its limited context window.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2461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loaded every session. Run /init to generate it.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8456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32461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 mentions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48456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specific files or folders into context on demand.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73952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32461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/compact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73952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the conversation to reclaim context space.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83464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99448" y="31089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2461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9476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99448" y="429768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Wipe the slate for a fresh, unrelated task.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CONTEXT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Your Context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66928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CLAUDE.md tight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overview, conventions, commands to run. Short and high-signal.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only what's needed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@file mentions instead of pasting whole folders.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before it overflows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context meter; /compact at natural breakpoints.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between tasks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 so old context doesn't bleed into new work.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783080"/>
            <a:ext cx="5120640" cy="3931920"/>
          </a:xfrm>
          <a:prstGeom prst="roundRect">
            <a:avLst>
              <a:gd name="adj" fmla="val 1395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76656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766560" y="2286000"/>
            <a:ext cx="46634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My Web App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Stack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Vanilla HTML, CSS, JS. No frameworks.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Conventions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Single index.html, mobile-first
- Use CSS variables for colors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Commands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Deploy: push to main (GH Pages)
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CONTEXT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CLAUDE.md (/init)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/init to generate a CLAUDE.md so Claude remembers your project's structure and conventions every session.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64240" cy="3291840"/>
          </a:xfrm>
          <a:prstGeom prst="roundRect">
            <a:avLst>
              <a:gd name="adj" fmla="val 1667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CLAUDE.md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What this is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Single-page marketing site. HTML + CSS + vanilla JS — no framework, no build step.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Running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index.html directly in a browser. No dev server.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Architecture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index.html  — sections: #home, #services, #testimonials, #contact
- styles.css  — design tokens in :root variables; mobile-first
- script.js   — enquiry-form validation (one DOMContentLoaded handler)
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CLAUDE.md short and high-signal — see github.com/alfredang/softwaredevleopment.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CONTEXT WINDOW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Context Window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Claude's context window holds everything it can see at once. As you work it fills up, so manage it deliberately.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fills it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prompt, CLAUDE.md, memory, conversation, file reads, tool output, skills.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/context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what's using space; run /mcp for per-server token cost.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Auto-compaction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limit, old tool outputs clear first, then history is summarised.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83464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lean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schemas load on demand; subagents keep their own context.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864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persistent rules in CLAUDE.md — conversation detail can be lost during compaction.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MEMORY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Files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session starts fresh. Two mechanisms carry knowledge across sessions.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864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974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606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CLAUDE.md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33756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it — instructions &amp; rules.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with /init; keep under ~200 lines.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Scopes: project, user, or organisation.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in full every session.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09360" y="2286000"/>
            <a:ext cx="5303520" cy="3383280"/>
          </a:xfrm>
          <a:prstGeom prst="roundRect">
            <a:avLst>
              <a:gd name="adj" fmla="val 2162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25603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6974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2606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 Memory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629400" y="3337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it — learnings &amp; patterns.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MEMORY.md per repository.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200 lines / 25KB load each session.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edit with /memory.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SESSIONS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Sessions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is a saved conversation tied to a project directory. Resume, branch, name and switch between them.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--continue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the most recent session in this directory.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--resume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session picker to browse and search.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/rename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 session so it's findable later.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/branch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conversation to try another approach.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saved locally; use /clear and /compact to manage context within one.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SCHEDULED TASKS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Scheduled Tasks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tasks (Desktop Routines) start a new session automatically — for daily reviews, audits or briefings.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→ New routine → Local; set name &amp; instructions.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Hourly, daily, weekdays or weekly — or describe it.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locally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while the app is open and your machine is awake.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now, pause, edit, and review run history.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ask: “set up a daily code review that runs every morning at 9am.”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GOAL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Working Toward a Goal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/goal sets a completion condition. After each turn a fast model checks it, and Claude keeps working until it's met.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/goal &lt;cond&gt;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verifiable end state, e.g. “all tests pass”.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/goal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status: turns, tokens and the latest reason.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/goal clear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 active goal before it's met.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Haiku evaluator judges the condition each turn.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conditions Claude can prove in the transcript — e.g. “npm test exits 0”.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Context, Deploy &amp; CI/CD (Steps 4–7)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Context: run /init to generate CLAUDE.md for your project.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Commit to GitHub: initialise git and push your code.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Deployment: deploy to GitHub Pages via GitHub Actions; add a README.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CI/CD: confirm each push automatically rebuilds and redeploys the site.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live GitHub Pages link: https://&lt;username&gt;.github.io/software-dev-site/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deployed GitHub Pages URL with the class.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D97757">
              <a:alpha val="1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251460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Commands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8321040" y="1463040"/>
            <a:ext cx="3200400" cy="2724912"/>
          </a:xfrm>
          <a:prstGeom prst="roundRect">
            <a:avLst>
              <a:gd name="adj" fmla="val 3356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49640" y="17556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05256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.claude directory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49640" y="23225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52560" y="23042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49640" y="28895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052560" y="287121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49640" y="34564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052560" y="34381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MCP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.claude Directory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keeps its configuration in two places: your user folder (applies everywhere) and the project folder (shared with your team via version control).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606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   (user — all projects)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settings.json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settings, hooks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personal memory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agents/  skills/  commands/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projects/&lt;p&gt;/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sessions + memory/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plugins/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~/.claude.json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MCP servers, config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2468880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2606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&lt;project&gt;/.claude/   (team — in git)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297180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settings.json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shared settings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settings.local.json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personal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rules/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memory &amp; rules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commands/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/slash commands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skills/&lt;name&gt;/SKILL.md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agents/&lt;name&gt;.md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sub agents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.mcp.json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project MCP servers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56235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scope applies to every project; project scope is committed so your whole team shares it.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CUSTOM COMMANDS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Slash Commands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 are reusable prompts saved as Markdown files. Type a slash command to run a multi-step workflow the same way every time.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live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.claude/commands/ in your project (or ~/.claude for personal).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make one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name.md — the filename becomes /name.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Reload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Claude Code to pick up new commands.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$ARGUMENTS to pass input into the command.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560320"/>
            <a:ext cx="5212080" cy="3017520"/>
          </a:xfrm>
          <a:prstGeom prst="roundRect">
            <a:avLst>
              <a:gd name="adj" fmla="val 1818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75120" y="2697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.claude/commands/gitpush.md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310896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all code to GitHub, then: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Create a README
2. Enable GitHub Pages
3. Update repo About + Pages link
4. Scan for secrets before publishing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Target: $ARGUMENTS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/gitpush Command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.claude/commands/gitpush.md in your project.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7767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7767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127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push/update all code to GitHub.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3863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386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223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generate a README for the repository.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39959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39319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create a GitHub Page via GitHub Actions.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6055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4605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5415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update the repo About section and add the GitHub Pages link.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215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" y="5215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61872" y="5151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security scan so no sensitive data is published.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</p:sp>
      <p:sp>
        <p:nvSpPr>
          <p:cNvPr id="27" name="Text 24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Claude Code, then run /gitpush to execute the whole workflow.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MCP 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MCP?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 (MCP) is an open standard that lets Claude Code connect to external tools and data sources through a common interface — like a USB-C port for AI.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1546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tools/data (e.g. Playwright, GitHub, databases).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8456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31546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Client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8456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connects to servers and calls their tools.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73952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31546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Transport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73952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 or HTTP/SSE — transport-agnostic communication.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99448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1546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99448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server publishes callable actions Claude can use.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MCP 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 an MCP Server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server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mcp add — register an HTTP or local stdio server.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scope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(this project), project (.mcp.json, shared), or user (all projects).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use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mcp list to check status; /mcp to manage in-session.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212080" cy="3200400"/>
          </a:xfrm>
          <a:prstGeom prst="roundRect">
            <a:avLst>
              <a:gd name="adj" fmla="val 1714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75120" y="19659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0" y="233172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hosted server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add --transport \
   http docs &lt;url&gt;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local stdio server (project)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add playwright \
   -s project -- npx -y \
   @playwright/mcp@latest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list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servers live in .mcp.json — commit it so teammates get the same tools.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MCP 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MCP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Playwright MCP server lets Claude Code drive a real browser — open pages, click, fill forms and capture screenshots — perfect for testing the website you just built.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54864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at project level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server to your project's MCP config.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permissions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Claude to launch and control the browser.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tools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open your site and take a screenshot.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606040"/>
            <a:ext cx="5212080" cy="2743200"/>
          </a:xfrm>
          <a:prstGeom prst="roundRect">
            <a:avLst>
              <a:gd name="adj" fmla="val 2000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7512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315468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add playwright \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npx @playwright/mcp@latest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my site and take a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screenshot, then add it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 the README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&amp; Use Playwright MCP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Playwright MCP tool at the project level.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browser permissions for Claude Code.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open your deployed website in the browser.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 screenshot of the site using the Playwright MCP tool.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screenshot to your README and push to GitHub.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screenshot renders correctly in your GitHub README.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the Enquiry Form (Playwright)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enquiry form to send submissions to angch@tertiaryinfotech.com (e.g. Formspree or a fetch to your endpoint).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use the Playwright MCP tool to open your deployed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 form with test data (name, email, message) and submit it.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success message appears and the data is captured in the console.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the enquiry email actually arrives in the inbox.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after each change so every enquiry reliably reaches your email.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D97757">
              <a:alpha val="1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251460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Skills, Agents &amp; Hooks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8321040" y="1463040"/>
            <a:ext cx="3200400" cy="2724912"/>
          </a:xfrm>
          <a:prstGeom prst="roundRect">
            <a:avLst>
              <a:gd name="adj" fmla="val 3356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49640" y="175564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052560" y="17373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49640" y="23225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52560" y="23042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49640" y="28895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052560" y="287121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49640" y="34564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052560" y="34381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Capstone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AGENT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Skills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are reusable folders of instructions (SKILL.md) plus optional scripts and resources that teach Claude how to do a specialised task. Claude loads a skill only when it's relevant.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1546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+ description + instructions Claude follows on demand.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8456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31546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skills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8456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 — shared with your repo &amp; team.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73952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31546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73952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skills add &lt;repo&gt; --skill &lt;name&gt;.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99448" y="301752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1546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Customise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99448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skill to fit your project's needs.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&amp; Run Skills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frontend-design: npx skills add https://github.com/anthropics/skills --skill frontend-design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Customise the frontend design to appeal to software-dev clients.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seo-audit: npx skills add https://github.com/coreyhaines31/marketingskills --skill seo-audit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seo-audit skill to optimise the website's SEO.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improvements and push to GitHub.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skills install into .claude/skills/ at the project level.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SUB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Agents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 are specialised assistants with their own prompt, tools and context window. Delegate focused jobs — like security review or UX critique — to keep the main thread clean.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54864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with /agents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Project to save under .claude/agents/.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clear role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purpose, tools and when to invoke it.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context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 agent runs in its own context window.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2606040"/>
            <a:ext cx="5212080" cy="2743200"/>
          </a:xfrm>
          <a:prstGeom prst="roundRect">
            <a:avLst>
              <a:gd name="adj" fmla="val 2000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7512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.claude/agents/security-scan.md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0" y="315468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security-scan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for vulns
  &amp; hardening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security reviewer...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SUB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Use Sub Agents?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a sub agent when a side task would flood your main conversation with output you won't reference again.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Preserve context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&amp; logs stay in the agent's own window — only the summary returns.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67278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1598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758" y="27889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1598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 constraints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41598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exactly which tools the sub agent is allowed to use.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85916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60236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78892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60236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 &amp; specialise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60236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configs across projects; focused prompts for each domain.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04554" y="2377440"/>
            <a:ext cx="2635758" cy="2743200"/>
          </a:xfrm>
          <a:prstGeom prst="roundRect">
            <a:avLst>
              <a:gd name="adj" fmla="val 27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78874" y="2651760"/>
            <a:ext cx="566928" cy="566928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034" y="278892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8874" y="3337560"/>
            <a:ext cx="21328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costs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78874" y="3822192"/>
            <a:ext cx="217855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narrow tasks to a faster, cheaper model.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custom sub agent when you keep spawning the same kind of worker with the same instructions.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SUB AGENTS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Agents vs Agent Teams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5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 Agents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5508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5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Teams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4709160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011680"/>
            <a:ext cx="4709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Agent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554480" y="2468880"/>
            <a:ext cx="0" cy="64008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14400" y="31089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C2603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3108960"/>
            <a:ext cx="1280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Subagent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554480" y="3566160"/>
            <a:ext cx="0" cy="5029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71016" y="4242816"/>
            <a:ext cx="566928" cy="566928"/>
          </a:xfrm>
          <a:prstGeom prst="ellipse">
            <a:avLst/>
          </a:prstGeom>
          <a:solidFill>
            <a:srgbClr val="2E2C26"/>
          </a:solidFill>
          <a:ln w="12700">
            <a:solidFill>
              <a:srgbClr val="8A867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271016" y="42428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68980" y="2468880"/>
            <a:ext cx="0" cy="64008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628900" y="31089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C2603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28900" y="3108960"/>
            <a:ext cx="1280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Subagent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68980" y="3566160"/>
            <a:ext cx="0" cy="5029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985516" y="4242816"/>
            <a:ext cx="566928" cy="566928"/>
          </a:xfrm>
          <a:prstGeom prst="ellipse">
            <a:avLst/>
          </a:prstGeom>
          <a:solidFill>
            <a:srgbClr val="2E2C26"/>
          </a:solidFill>
          <a:ln w="12700">
            <a:solidFill>
              <a:srgbClr val="8A867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2985516" y="42428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83480" y="2468880"/>
            <a:ext cx="0" cy="64008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343400" y="310896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C2603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343400" y="3108960"/>
            <a:ext cx="128016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Subagent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83480" y="3566160"/>
            <a:ext cx="0" cy="5029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700016" y="4242816"/>
            <a:ext cx="566928" cy="566928"/>
          </a:xfrm>
          <a:prstGeom prst="ellipse">
            <a:avLst/>
          </a:prstGeom>
          <a:solidFill>
            <a:srgbClr val="2E2C26"/>
          </a:solidFill>
          <a:ln w="12700">
            <a:solidFill>
              <a:srgbClr val="8A867D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00016" y="42428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783080" y="2542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520440" y="36393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85800" y="2240280"/>
            <a:ext cx="0" cy="22860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</a:ln>
        </p:spPr>
      </p:sp>
      <p:sp>
        <p:nvSpPr>
          <p:cNvPr id="29" name="Shape 27"/>
          <p:cNvSpPr/>
          <p:nvPr/>
        </p:nvSpPr>
        <p:spPr>
          <a:xfrm>
            <a:off x="685800" y="4526280"/>
            <a:ext cx="502920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5800" y="2240280"/>
            <a:ext cx="228600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6177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75120" y="2011680"/>
            <a:ext cx="4617720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675120" y="2011680"/>
            <a:ext cx="4617720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Agent (Team Lead)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983980" y="2468880"/>
            <a:ext cx="0" cy="54864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9052560" y="250545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 &amp; assign tasks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675120" y="3017520"/>
            <a:ext cx="4617720" cy="457200"/>
          </a:xfrm>
          <a:prstGeom prst="roundRect">
            <a:avLst>
              <a:gd name="adj" fmla="val 12000"/>
            </a:avLst>
          </a:prstGeom>
          <a:solidFill>
            <a:srgbClr val="26405A"/>
          </a:solidFill>
          <a:ln w="19050">
            <a:solidFill>
              <a:srgbClr val="4F86C6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6675120" y="30175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E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Task List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315200" y="3474720"/>
            <a:ext cx="0" cy="6858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656832" y="4160520"/>
            <a:ext cx="1316736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656832" y="4160520"/>
            <a:ext cx="1316736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315200" y="5074920"/>
            <a:ext cx="0" cy="-2743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766560" y="5029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983980" y="3474720"/>
            <a:ext cx="0" cy="6858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325612" y="4160520"/>
            <a:ext cx="1316736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8325612" y="4160520"/>
            <a:ext cx="1316736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983980" y="5074920"/>
            <a:ext cx="0" cy="-2743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8435340" y="5029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0652760" y="3474720"/>
            <a:ext cx="0" cy="68580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9994392" y="4160520"/>
            <a:ext cx="1316736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994392" y="4160520"/>
            <a:ext cx="1316736" cy="457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Teammate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0652760" y="5074920"/>
            <a:ext cx="0" cy="-27432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104120" y="5029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498080" y="35844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tasks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973568" y="4389120"/>
            <a:ext cx="347472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9646920" y="4389120"/>
            <a:ext cx="347472" cy="0"/>
          </a:xfrm>
          <a:prstGeom prst="line">
            <a:avLst/>
          </a:prstGeom>
          <a:noFill/>
          <a:ln w="19050">
            <a:solidFill>
              <a:srgbClr val="9B958A"/>
            </a:solidFill>
            <a:prstDash val="solid"/>
            <a:headEnd type="triangle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8321040" y="4480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9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agents report back to one main agent · agent teams coordinate via a shared task list.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457200" y="656539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Custom Sub Agents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security-scan sub agent in .claude/agents/ to find vulnerabilities and harden the site.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and apply the recommended fixes.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lead-magnets: npx skills add https://github.com/coreyhaines31/marketingskills --skill lead-magnets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UI/UX review sub agent that uses lead-magnets to optimise for lead capture.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improvements and push to GitHub.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agents live in .claude/agents/ at the project level.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HOOKS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are shell commands that run automatically at defined points in Claude Code's lifecycle — letting you enforce rules, format code, or trigger actions without asking.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15468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PreToolUse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before a tool — validate or block an action.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74136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8456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31546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8456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PostToolUse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48456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 a tool — auto-format or test.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99632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73952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31546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73952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when Claude needs input or finishes.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025128" y="2743200"/>
            <a:ext cx="2706624" cy="27432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99448" y="301752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15468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9448" y="370332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6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99448" y="4206240"/>
            <a:ext cx="22037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cleanup or checks when a task ends.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" y="56235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in .claude/settings.json under "hooks".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HOOKS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Automating with Hooks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not optional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always run at their event — they don't rely on the model deciding to.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uses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Auto-format after edits, run tests, block risky commands, send notifications.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"hooks" block to .claude/settings.json (matchers + commands).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75120" y="19659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.claude/settings.json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0" y="2331720"/>
            <a:ext cx="47548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"hooks": {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7D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"PostToolUse": [{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"matcher": "Edit|Write",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"hooks": [{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"type": "command",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"command":
          "npx prettier --write ."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}]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}]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4406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receive event context on stdin as JSON — perfect for lint, format and guardrail scripts.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Hooks — Form Pre &amp; Post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real Claude Code hook script under .claude/hooks/ and wire it in .claude/settings.json.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7767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7767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127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 hook — guard edits (e.g. validate/block) before Claude's tools run.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3863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386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223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Pre-submit (form): have Claude validate every enquiry-form entry — name, email, tel — with inline errors.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39959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39319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Post-submit (form): on success play a voice message — “Hurray, thank you for your submission, we will get back to you in 3 business days.”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6055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4605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5415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balloon / confetti effect on successful submission.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215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" y="5215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61872" y="5151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Playwright MCP to test both the pre (validation) and post (voice + balloon) behaviour.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</p:sp>
      <p:sp>
        <p:nvSpPr>
          <p:cNvPr id="27" name="Text 24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hooks live in .claude/hooks + .claude/settings.json; the form pre/post behaviour lives in script.js.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023360" cy="4023360"/>
          </a:xfrm>
          <a:prstGeom prst="ellipse">
            <a:avLst/>
          </a:prstGeom>
          <a:solidFill>
            <a:srgbClr val="D97757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MINI CAPSTONE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 Capstone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OWN new project with Claude Code using the 7-step workflow, then present it. It can be a website, a web tool, a full-stack app or a mobile app.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2E2C26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2761488"/>
            <a:ext cx="457200" cy="45720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871216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27432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an idea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9808" y="321868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project: website, web tool, full-stack or mobile app.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33672" y="256032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2E2C26"/>
          </a:solidFill>
          <a:ln/>
        </p:spPr>
      </p:sp>
      <p:sp>
        <p:nvSpPr>
          <p:cNvPr id="12" name="Shape 9"/>
          <p:cNvSpPr/>
          <p:nvPr/>
        </p:nvSpPr>
        <p:spPr>
          <a:xfrm>
            <a:off x="4434840" y="2761488"/>
            <a:ext cx="457200" cy="45720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68" y="2871216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10912" y="27432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&amp; Features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434840" y="321868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clear build prompt (use ChatGPT to help).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18704" y="256032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2E2C26"/>
          </a:solidFill>
          <a:ln/>
        </p:spPr>
      </p:sp>
      <p:sp>
        <p:nvSpPr>
          <p:cNvPr id="17" name="Shape 13"/>
          <p:cNvSpPr/>
          <p:nvPr/>
        </p:nvSpPr>
        <p:spPr>
          <a:xfrm>
            <a:off x="8119872" y="2761488"/>
            <a:ext cx="457200" cy="45720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871216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695944" y="27432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&amp; Build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119872" y="321868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mode, then execute in bypass-permissions mode.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48640" y="39776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2E2C26"/>
          </a:solidFill>
          <a:ln/>
        </p:spPr>
      </p:sp>
      <p:sp>
        <p:nvSpPr>
          <p:cNvPr id="22" name="Shape 17"/>
          <p:cNvSpPr/>
          <p:nvPr/>
        </p:nvSpPr>
        <p:spPr>
          <a:xfrm>
            <a:off x="749808" y="4178808"/>
            <a:ext cx="457200" cy="45720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288536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25880" y="41605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&amp; Commit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49808" y="463600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/init for CLAUDE.md; push the code to GitHub.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233672" y="39776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2E2C26"/>
          </a:solidFill>
          <a:ln/>
        </p:spPr>
      </p:sp>
      <p:sp>
        <p:nvSpPr>
          <p:cNvPr id="27" name="Shape 21"/>
          <p:cNvSpPr/>
          <p:nvPr/>
        </p:nvSpPr>
        <p:spPr>
          <a:xfrm>
            <a:off x="4434840" y="4178808"/>
            <a:ext cx="457200" cy="45720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568" y="428853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010912" y="41605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&amp; CI/CD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4434840" y="463600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and automate redeploys with GitHub Actions.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7918704" y="39776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2E2C26"/>
          </a:solidFill>
          <a:ln/>
        </p:spPr>
      </p:sp>
      <p:sp>
        <p:nvSpPr>
          <p:cNvPr id="32" name="Shape 25"/>
          <p:cNvSpPr/>
          <p:nvPr/>
        </p:nvSpPr>
        <p:spPr>
          <a:xfrm>
            <a:off x="8119872" y="4178808"/>
            <a:ext cx="457200" cy="45720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288536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695944" y="41605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8119872" y="463600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your project and walk through how you built it.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MINI CAPSTONE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Your Build Prompt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sure how to phrase it? Ask a chatbot (ChatGPT or Claude) to write your build prompt first, then paste the result into Claude Code.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1064240" cy="2926080"/>
          </a:xfrm>
          <a:prstGeom prst="roundRect">
            <a:avLst>
              <a:gd name="adj" fmla="val 1875"/>
            </a:avLst>
          </a:prstGeom>
          <a:solidFill>
            <a:srgbClr val="1B1A1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6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to give the chatbot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104241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a prompt to build a web app for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[your idea]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with the following features: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[feature 1]
  - [feature 2]
  - [feature 3]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should be built in HTML / CSS / JavaScript.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5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the prompt in markdown format.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55321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refine the generated prompt and run it through the 7-step workflow.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206240"/>
            <a:ext cx="3657600" cy="3657600"/>
          </a:xfrm>
          <a:prstGeom prst="ellipse">
            <a:avLst/>
          </a:prstGeom>
          <a:solidFill>
            <a:srgbClr val="D9775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Test, Convert &amp; Present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058400" y="640080"/>
            <a:ext cx="1188720" cy="1188720"/>
          </a:xfrm>
          <a:prstGeom prst="ellipse">
            <a:avLst/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932688"/>
            <a:ext cx="603504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216712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1671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61872" y="210312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Playwright MCP to test the enquiry form end-to-end.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280720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80720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61872" y="274320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all enquiries are sent to angch@tertiaryinfotech.com.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338328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WhatsApp floating widget (bottom-right) with suggestive queries, linked to +65 9698 3731.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40080" y="408736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0873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261872" y="402336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final security scan and lead-magnet UX review.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4727448"/>
            <a:ext cx="438912" cy="438912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47274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261872" y="46634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and deliver your capstone mini-project presentation.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598932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2E2C26"/>
          </a:solidFill>
          <a:ln/>
        </p:spPr>
      </p:sp>
      <p:sp>
        <p:nvSpPr>
          <p:cNvPr id="24" name="Text 21"/>
          <p:cNvSpPr/>
          <p:nvPr/>
        </p:nvSpPr>
        <p:spPr>
          <a:xfrm>
            <a:off x="868680" y="59893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your build, deployment, tests and optimisations to the class.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836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&amp; Q&amp;A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031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3383280" y="19202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loop and context engineering power everything Claude Code does.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807208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2990088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2724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944368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2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383280" y="29443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commands and MCP tools automate and extend your workflow.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383133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4014216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5137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968496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3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3383280" y="3968496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sub agents and hooks make Claude a specialised teammate.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55464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5038344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17550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4992624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6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3383280" y="4992624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built, deployed, tested, secured and optimised a real website.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assessment stage, follow these five steps in order.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743200"/>
            <a:ext cx="512064" cy="512064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87121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04672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TRAQOM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TRAQOM QR code on the LMS and complete the survey.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896" y="3813048"/>
            <a:ext cx="146304" cy="14630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98064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54096" y="2743200"/>
            <a:ext cx="512064" cy="512064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2112" y="2871216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054096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3054096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3054096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assessment digital attendance.</a:t>
            </a:r>
            <a:endParaRPr lang="en-US" sz="11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813048"/>
            <a:ext cx="146304" cy="14630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047488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5303520" y="2743200"/>
            <a:ext cx="512064" cy="512064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2871216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03520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303520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303520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WA &amp; PP.</a:t>
            </a:r>
            <a:endParaRPr lang="en-US" sz="11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5744" y="3813048"/>
            <a:ext cx="146304" cy="146304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296912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7552944" y="2743200"/>
            <a:ext cx="512064" cy="512064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2871216"/>
            <a:ext cx="256032" cy="25603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552944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7552944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 Answers</a:t>
            </a:r>
            <a:endParaRPr lang="en-US" sz="1400" dirty="0"/>
          </a:p>
        </p:txBody>
      </p:sp>
      <p:sp>
        <p:nvSpPr>
          <p:cNvPr id="31" name="Text 22"/>
          <p:cNvSpPr/>
          <p:nvPr/>
        </p:nvSpPr>
        <p:spPr>
          <a:xfrm>
            <a:off x="7552944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assessment answers on the LMS.</a:t>
            </a:r>
            <a:endParaRPr lang="en-US" sz="11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5168" y="3813048"/>
            <a:ext cx="146304" cy="146304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546336" y="2468880"/>
            <a:ext cx="1993392" cy="283464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9802368" y="2743200"/>
            <a:ext cx="512064" cy="512064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0384" y="2871216"/>
            <a:ext cx="256032" cy="256032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9802368" y="3364992"/>
            <a:ext cx="1536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000" dirty="0"/>
          </a:p>
        </p:txBody>
      </p:sp>
      <p:sp>
        <p:nvSpPr>
          <p:cNvPr id="37" name="Text 26"/>
          <p:cNvSpPr/>
          <p:nvPr/>
        </p:nvSpPr>
        <p:spPr>
          <a:xfrm>
            <a:off x="9802368" y="3639312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the Record</a:t>
            </a:r>
            <a:endParaRPr lang="en-US" sz="1400" dirty="0"/>
          </a:p>
        </p:txBody>
      </p:sp>
      <p:sp>
        <p:nvSpPr>
          <p:cNvPr id="38" name="Text 27"/>
          <p:cNvSpPr/>
          <p:nvPr/>
        </p:nvSpPr>
        <p:spPr>
          <a:xfrm>
            <a:off x="9802368" y="4160520"/>
            <a:ext cx="157276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your Assessment Summary Record.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548640" y="55778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Courseware and the assessment are on the LMS: https://lms-tms.tertiaryinfotech.com/</a:t>
            </a:r>
            <a:endParaRPr lang="en-US" sz="1300" dirty="0"/>
          </a:p>
        </p:txBody>
      </p:sp>
      <p:sp>
        <p:nvSpPr>
          <p:cNvPr id="40" name="Text 2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41" name="Text 30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42" name="Text 31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Certification &amp; TRAQOM Survey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3172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2402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TRAQOM Survey (Mandatory)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01752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certification &amp; TRAQOM survey to receive your certificate.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ai-lms-tms.tertiaryinfo.tech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21945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33172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2402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Attendance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37960" y="301752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take AM, PM and Assessment digital attendance — required for your funding.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Applications with Claude Code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4572000" cy="4572000"/>
          </a:xfrm>
          <a:prstGeom prst="ellipse">
            <a:avLst/>
          </a:prstGeom>
          <a:solidFill>
            <a:srgbClr val="D9775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023360"/>
            <a:ext cx="3657600" cy="3657600"/>
          </a:xfrm>
          <a:prstGeom prst="ellipse">
            <a:avLst/>
          </a:prstGeom>
          <a:solidFill>
            <a:srgbClr val="3A7D7B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We're here to help — during and after class.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enquiry@tertiaryinfotech.com   |   +65 6100 0613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Applications with Claude Code</dc:title>
  <dc:subject>PptxGenJS Presentation</dc:subject>
  <dc:creator>Dr. Alfred Ang</dc:creator>
  <cp:lastModifiedBy>Dr. Alfred Ang</cp:lastModifiedBy>
  <cp:revision>1</cp:revision>
  <dcterms:created xsi:type="dcterms:W3CDTF">2026-06-27T17:21:39Z</dcterms:created>
  <dcterms:modified xsi:type="dcterms:W3CDTF">2026-06-27T17:21:39Z</dcterms:modified>
</cp:coreProperties>
</file>