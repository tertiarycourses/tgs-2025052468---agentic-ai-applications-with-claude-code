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25" r:id="rId76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23" r:id="rId74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72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24" r:id="rId75"/>
    <p:sldId id="316" r:id="rId62"/>
    <p:sldId id="317" r:id="rId63"/>
    <p:sldId id="322" r:id="rId7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3.xml"/><Relationship Id="rId52" Type="http://schemas.openxmlformats.org/officeDocument/2006/relationships/slide" Target="slides/slide54.xml"/><Relationship Id="rId53" Type="http://schemas.openxmlformats.org/officeDocument/2006/relationships/slide" Target="slides/slide55.xml"/><Relationship Id="rId54" Type="http://schemas.openxmlformats.org/officeDocument/2006/relationships/slide" Target="slides/slide56.xml"/><Relationship Id="rId55" Type="http://schemas.openxmlformats.org/officeDocument/2006/relationships/slide" Target="slides/slide57.xml"/><Relationship Id="rId56" Type="http://schemas.openxmlformats.org/officeDocument/2006/relationships/slide" Target="slides/slide58.xml"/><Relationship Id="rId57" Type="http://schemas.openxmlformats.org/officeDocument/2006/relationships/slide" Target="slides/slide59.xml"/><Relationship Id="rId58" Type="http://schemas.openxmlformats.org/officeDocument/2006/relationships/slide" Target="slides/slide60.xml"/><Relationship Id="rId59" Type="http://schemas.openxmlformats.org/officeDocument/2006/relationships/slide" Target="slides/slide61.xml"/><Relationship Id="rId60" Type="http://schemas.openxmlformats.org/officeDocument/2006/relationships/slide" Target="slides/slide62.xml"/><Relationship Id="rId61" Type="http://schemas.openxmlformats.org/officeDocument/2006/relationships/slide" Target="slides/slide63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8.xml"/><Relationship Id="rId65" Type="http://schemas.openxmlformats.org/officeDocument/2006/relationships/slide" Target="slides/slide69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19.xml"/><Relationship Id="rId72" Type="http://schemas.openxmlformats.org/officeDocument/2006/relationships/slide" Target="slides/slide52.xml"/><Relationship Id="rId73" Type="http://schemas.openxmlformats.org/officeDocument/2006/relationships/slide" Target="slides/slide67.xml"/><Relationship Id="rId74" Type="http://schemas.openxmlformats.org/officeDocument/2006/relationships/slide" Target="slides/slide42.xml"/><Relationship Id="rId75" Type="http://schemas.openxmlformats.org/officeDocument/2006/relationships/slide" Target="slides/slide64.xml"/><Relationship Id="rId76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image-23-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15.0  ·  9 Sep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Capstone · Activity 6 + capstone presentations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on web, desktop &amp; mobile for everyday tasks.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33680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6" name="Shape 4"/>
          <p:cNvSpPr/>
          <p:nvPr/>
        </p:nvSpPr>
        <p:spPr>
          <a:xfrm>
            <a:off x="3642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36423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36423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 in your terminal, IDE &amp; desktop.</a:t>
            </a:r>
            <a:endParaRPr lang="en-US" sz="1050" dirty="0"/>
          </a:p>
        </p:txBody>
      </p:sp>
      <p:sp>
        <p:nvSpPr>
          <p:cNvPr id="210" name="Shape 3"/>
          <p:cNvSpPr/>
          <p:nvPr/>
        </p:nvSpPr>
        <p:spPr>
          <a:xfrm>
            <a:off x="61874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1" name="Shape 4"/>
          <p:cNvSpPr/>
          <p:nvPr/>
        </p:nvSpPr>
        <p:spPr>
          <a:xfrm>
            <a:off x="64617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65" y="2592705"/>
            <a:ext cx="247650" cy="247650"/>
          </a:xfrm>
          <a:prstGeom prst="rect">
            <a:avLst/>
          </a:prstGeom>
        </p:spPr>
      </p:pic>
      <p:sp>
        <p:nvSpPr>
          <p:cNvPr id="213" name="Text 5"/>
          <p:cNvSpPr/>
          <p:nvPr/>
        </p:nvSpPr>
        <p:spPr>
          <a:xfrm>
            <a:off x="64617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Cowork</a:t>
            </a:r>
            <a:endParaRPr lang="en-US" sz="1300" dirty="0"/>
          </a:p>
        </p:txBody>
      </p:sp>
      <p:sp>
        <p:nvSpPr>
          <p:cNvPr id="214" name="Text 6"/>
          <p:cNvSpPr/>
          <p:nvPr/>
        </p:nvSpPr>
        <p:spPr>
          <a:xfrm>
            <a:off x="64617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non-developers to automate files &amp; tasks.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90068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6" name="Shape 4"/>
          <p:cNvSpPr/>
          <p:nvPr/>
        </p:nvSpPr>
        <p:spPr>
          <a:xfrm>
            <a:off x="9281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92811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92811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polished UI &amp; frontend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2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Microsoft 365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33680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6" name="Shape 4"/>
          <p:cNvSpPr/>
          <p:nvPr/>
        </p:nvSpPr>
        <p:spPr>
          <a:xfrm>
            <a:off x="3642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7" name="Image 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5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36423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36423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navigates and acts on the web for you.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61874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1" name="Shape 4"/>
          <p:cNvSpPr/>
          <p:nvPr/>
        </p:nvSpPr>
        <p:spPr>
          <a:xfrm>
            <a:off x="64617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2" name="Image 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9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64617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64617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wording of a single prompt to get good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what the model sees — files, memory and tools.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around the model: loop, tools, verification.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long tasks autonomously — Claude Code, Cowork, Codex.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shift the work from wording prompts → curating context → engineering the whole harness.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5" name="Image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</a:p>
        </p:txBody>
      </p:sp>
      <p:sp>
        <p:nvSpPr>
          <p:cNvPr id="102" name="Shape 10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vs Project Level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customisation — commands, MCP tools, skills, CLAUDE.md and hooks — can be stored at two levels. User level applies to ALL your projects; project level applies only to that ONE project.</a:t>
            </a:r>
          </a:p>
        </p:txBody>
      </p:sp>
      <p:sp>
        <p:nvSpPr>
          <p:cNvPr id="104" name="Shape 104"/>
          <p:cNvSpPr/>
          <p:nvPr/>
        </p:nvSpPr>
        <p:spPr>
          <a:xfrm>
            <a:off x="54864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5" name="Shape 105"/>
          <p:cNvSpPr/>
          <p:nvPr/>
        </p:nvSpPr>
        <p:spPr>
          <a:xfrm>
            <a:off x="77724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6" name="Shape 106"/>
          <p:cNvSpPr/>
          <p:nvPr/>
        </p:nvSpPr>
        <p:spPr>
          <a:xfrm>
            <a:off x="77724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 ·  ~/.claude/</a:t>
            </a:r>
          </a:p>
        </p:txBody>
      </p:sp>
      <p:sp>
        <p:nvSpPr>
          <p:cNvPr id="107" name="Shape 107"/>
          <p:cNvSpPr/>
          <p:nvPr/>
        </p:nvSpPr>
        <p:spPr>
          <a:xfrm>
            <a:off x="77724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8" name="Shape 108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PROJECTS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822960" y="374916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0" name="Shape 110"/>
          <p:cNvSpPr/>
          <p:nvPr/>
        </p:nvSpPr>
        <p:spPr>
          <a:xfrm>
            <a:off x="101536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11" name="Shape 111"/>
          <p:cNvSpPr/>
          <p:nvPr/>
        </p:nvSpPr>
        <p:spPr>
          <a:xfrm>
            <a:off x="223864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~/.claude/commands/&lt;name&gt;.md</a:t>
            </a:r>
          </a:p>
        </p:txBody>
      </p:sp>
      <p:sp>
        <p:nvSpPr>
          <p:cNvPr id="112" name="Shape 112"/>
          <p:cNvSpPr/>
          <p:nvPr/>
        </p:nvSpPr>
        <p:spPr>
          <a:xfrm>
            <a:off x="822960" y="4114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3" name="Shape 113"/>
          <p:cNvSpPr/>
          <p:nvPr/>
        </p:nvSpPr>
        <p:spPr>
          <a:xfrm>
            <a:off x="101536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14" name="Shape 114"/>
          <p:cNvSpPr/>
          <p:nvPr/>
        </p:nvSpPr>
        <p:spPr>
          <a:xfrm>
            <a:off x="223864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 ·  claude mcp add -s user …</a:t>
            </a:r>
          </a:p>
        </p:txBody>
      </p:sp>
      <p:sp>
        <p:nvSpPr>
          <p:cNvPr id="115" name="Shape 115"/>
          <p:cNvSpPr/>
          <p:nvPr/>
        </p:nvSpPr>
        <p:spPr>
          <a:xfrm>
            <a:off x="822960" y="448068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6" name="Shape 116"/>
          <p:cNvSpPr/>
          <p:nvPr/>
        </p:nvSpPr>
        <p:spPr>
          <a:xfrm>
            <a:off x="101536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17" name="Shape 117"/>
          <p:cNvSpPr/>
          <p:nvPr/>
        </p:nvSpPr>
        <p:spPr>
          <a:xfrm>
            <a:off x="223864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~/.claude/skills/&lt;name&gt;/SKILL.md</a:t>
            </a:r>
          </a:p>
        </p:txBody>
      </p:sp>
      <p:sp>
        <p:nvSpPr>
          <p:cNvPr id="118" name="Shape 118"/>
          <p:cNvSpPr/>
          <p:nvPr/>
        </p:nvSpPr>
        <p:spPr>
          <a:xfrm>
            <a:off x="822960" y="484644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9" name="Shape 119"/>
          <p:cNvSpPr/>
          <p:nvPr/>
        </p:nvSpPr>
        <p:spPr>
          <a:xfrm>
            <a:off x="101536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20" name="Shape 120"/>
          <p:cNvSpPr/>
          <p:nvPr/>
        </p:nvSpPr>
        <p:spPr>
          <a:xfrm>
            <a:off x="223864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(your personal memory)</a:t>
            </a:r>
          </a:p>
        </p:txBody>
      </p:sp>
      <p:sp>
        <p:nvSpPr>
          <p:cNvPr id="121" name="Shape 121"/>
          <p:cNvSpPr/>
          <p:nvPr/>
        </p:nvSpPr>
        <p:spPr>
          <a:xfrm>
            <a:off x="822960" y="521220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22" name="Shape 122"/>
          <p:cNvSpPr/>
          <p:nvPr/>
        </p:nvSpPr>
        <p:spPr>
          <a:xfrm>
            <a:off x="101536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23" name="Shape 123"/>
          <p:cNvSpPr/>
          <p:nvPr/>
        </p:nvSpPr>
        <p:spPr>
          <a:xfrm>
            <a:off x="223864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~/.claude/settings.json  →  "hooks"</a:t>
            </a:r>
          </a:p>
        </p:txBody>
      </p:sp>
      <p:sp>
        <p:nvSpPr>
          <p:cNvPr id="124" name="Shape 124"/>
          <p:cNvSpPr/>
          <p:nvPr/>
        </p:nvSpPr>
        <p:spPr>
          <a:xfrm>
            <a:off x="621792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5" name="Shape 125"/>
          <p:cNvSpPr/>
          <p:nvPr/>
        </p:nvSpPr>
        <p:spPr>
          <a:xfrm>
            <a:off x="644652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6" name="Shape 126"/>
          <p:cNvSpPr/>
          <p:nvPr/>
        </p:nvSpPr>
        <p:spPr>
          <a:xfrm>
            <a:off x="644652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  ·  &lt;project&gt;/</a:t>
            </a:r>
          </a:p>
        </p:txBody>
      </p:sp>
      <p:sp>
        <p:nvSpPr>
          <p:cNvPr id="127" name="Shape 127"/>
          <p:cNvSpPr/>
          <p:nvPr/>
        </p:nvSpPr>
        <p:spPr>
          <a:xfrm>
            <a:off x="644652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8" name="Shape 128"/>
          <p:cNvSpPr/>
          <p:nvPr/>
        </p:nvSpPr>
        <p:spPr>
          <a:xfrm>
            <a:off x="6446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ONLY</a:t>
            </a:r>
          </a:p>
        </p:txBody>
      </p:sp>
      <p:sp>
        <p:nvSpPr>
          <p:cNvPr id="129" name="Shape 129"/>
          <p:cNvSpPr/>
          <p:nvPr/>
        </p:nvSpPr>
        <p:spPr>
          <a:xfrm>
            <a:off x="6492240" y="374916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0" name="Shape 130"/>
          <p:cNvSpPr/>
          <p:nvPr/>
        </p:nvSpPr>
        <p:spPr>
          <a:xfrm>
            <a:off x="668464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31" name="Shape 131"/>
          <p:cNvSpPr/>
          <p:nvPr/>
        </p:nvSpPr>
        <p:spPr>
          <a:xfrm>
            <a:off x="790792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&lt;project&gt;/.claude/commands/&lt;name&gt;.md</a:t>
            </a:r>
          </a:p>
        </p:txBody>
      </p:sp>
      <p:sp>
        <p:nvSpPr>
          <p:cNvPr id="132" name="Shape 132"/>
          <p:cNvSpPr/>
          <p:nvPr/>
        </p:nvSpPr>
        <p:spPr>
          <a:xfrm>
            <a:off x="6492240" y="4114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3" name="Shape 133"/>
          <p:cNvSpPr/>
          <p:nvPr/>
        </p:nvSpPr>
        <p:spPr>
          <a:xfrm>
            <a:off x="668464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90792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&lt;project&gt;/.mcp.json  ·  claude mcp add -s project …</a:t>
            </a:r>
          </a:p>
        </p:txBody>
      </p:sp>
      <p:sp>
        <p:nvSpPr>
          <p:cNvPr id="135" name="Shape 135"/>
          <p:cNvSpPr/>
          <p:nvPr/>
        </p:nvSpPr>
        <p:spPr>
          <a:xfrm>
            <a:off x="6492240" y="4480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6" name="Shape 136"/>
          <p:cNvSpPr/>
          <p:nvPr/>
        </p:nvSpPr>
        <p:spPr>
          <a:xfrm>
            <a:off x="668464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37" name="Shape 137"/>
          <p:cNvSpPr/>
          <p:nvPr/>
        </p:nvSpPr>
        <p:spPr>
          <a:xfrm>
            <a:off x="790792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&lt;project&gt;/.claude/skills/&lt;name&gt;/SKILL.md</a:t>
            </a:r>
          </a:p>
        </p:txBody>
      </p:sp>
      <p:sp>
        <p:nvSpPr>
          <p:cNvPr id="138" name="Shape 138"/>
          <p:cNvSpPr/>
          <p:nvPr/>
        </p:nvSpPr>
        <p:spPr>
          <a:xfrm>
            <a:off x="6492240" y="484644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9" name="Shape 139"/>
          <p:cNvSpPr/>
          <p:nvPr/>
        </p:nvSpPr>
        <p:spPr>
          <a:xfrm>
            <a:off x="668464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40" name="Shape 140"/>
          <p:cNvSpPr/>
          <p:nvPr/>
        </p:nvSpPr>
        <p:spPr>
          <a:xfrm>
            <a:off x="790792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&lt;project&gt;/CLAUDE.md  (shared with the team)</a:t>
            </a:r>
          </a:p>
        </p:txBody>
      </p:sp>
      <p:sp>
        <p:nvSpPr>
          <p:cNvPr id="141" name="Shape 141"/>
          <p:cNvSpPr/>
          <p:nvPr/>
        </p:nvSpPr>
        <p:spPr>
          <a:xfrm>
            <a:off x="6492240" y="521220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2" name="Shape 142"/>
          <p:cNvSpPr/>
          <p:nvPr/>
        </p:nvSpPr>
        <p:spPr>
          <a:xfrm>
            <a:off x="668464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43" name="Shape 143"/>
          <p:cNvSpPr/>
          <p:nvPr/>
        </p:nvSpPr>
        <p:spPr>
          <a:xfrm>
            <a:off x="790792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&lt;project&gt;/.claude/settings.json  →  "hooks"</a:t>
            </a:r>
          </a:p>
        </p:txBody>
      </p:sp>
      <p:sp>
        <p:nvSpPr>
          <p:cNvPr id="144" name="Shape 144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preferences at user level; commit team-shared rules, commands, skills and hooks at project level. Both levels load together — where they conflict, project settings take precedence.</a:t>
            </a:r>
          </a:p>
        </p:txBody>
      </p:sp>
      <p:sp>
        <p:nvSpPr>
          <p:cNvPr id="145" name="Shape 1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46" name="Shape 1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147" name="Shape 1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Capstone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new project with Claude Code using the 7-step workflow, then present it. It can be a website, a web tool, a full-stack app or a mobile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8712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 idea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project: website, web tool, full-stack or mobile app.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33672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8712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34840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clear build prompt (use ChatGPT to help).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18704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9872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712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Build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19872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mode, then execute in bypass-permissions mode.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885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Commit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9808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for CLAUDE.md; push the code to GitHub.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33672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7" name="Shape 21"/>
          <p:cNvSpPr/>
          <p:nvPr/>
        </p:nvSpPr>
        <p:spPr>
          <a:xfrm>
            <a:off x="4434840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28853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10912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CI/CD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34840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automate redeploys with GitHub Actions.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918704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32" name="Shape 25"/>
          <p:cNvSpPr/>
          <p:nvPr/>
        </p:nvSpPr>
        <p:spPr>
          <a:xfrm>
            <a:off x="8119872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8853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95944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119872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project and walk through how you built it.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Your Build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how to phrase it? Ask a chatbot (ChatGPT or Claude) to write your build prompt first, then paste the result into Claude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to give the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prompt to build a web app for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idea]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with the following features: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[feature 1]
  - [feature 2]
  - [feature 3]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should be built in HTML / CSS / JavaScript.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the prompt in markdown format.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refine the generated prompt and run it through the 7-step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Convert &amp; Present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your capstone mini-project presentation.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build, deployment, tests and optimisations to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 ·  SUMMARY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What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 — each one is loaded by a different trigger. Knowing which fires when is how you choose the right mechanism.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019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 0"/>
          <p:cNvSpPr/>
          <p:nvPr/>
        </p:nvSpPr>
        <p:spPr>
          <a:xfrm>
            <a:off x="749808" y="207568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Name 0"/>
          <p:cNvSpPr/>
          <p:nvPr/>
        </p:nvSpPr>
        <p:spPr>
          <a:xfrm>
            <a:off x="960120" y="190195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22" name="Pill 0"/>
          <p:cNvSpPr/>
          <p:nvPr/>
        </p:nvSpPr>
        <p:spPr>
          <a:xfrm>
            <a:off x="3154680" y="211683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Badge 0"/>
          <p:cNvSpPr/>
          <p:nvPr/>
        </p:nvSpPr>
        <p:spPr>
          <a:xfrm>
            <a:off x="3154680" y="211683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</a:p>
        </p:txBody>
      </p:sp>
      <p:sp>
        <p:nvSpPr>
          <p:cNvPr id="26" name="Desc 0"/>
          <p:cNvSpPr/>
          <p:nvPr/>
        </p:nvSpPr>
        <p:spPr>
          <a:xfrm>
            <a:off x="5074920" y="190195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read automatically at the start of every session, so it is always in context.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60604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0" name="Tab 1"/>
          <p:cNvSpPr/>
          <p:nvPr/>
        </p:nvSpPr>
        <p:spPr>
          <a:xfrm>
            <a:off x="749808" y="2779776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2" name="Name 1"/>
          <p:cNvSpPr/>
          <p:nvPr/>
        </p:nvSpPr>
        <p:spPr>
          <a:xfrm>
            <a:off x="960120" y="2606040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34" name="Pill 1"/>
          <p:cNvSpPr/>
          <p:nvPr/>
        </p:nvSpPr>
        <p:spPr>
          <a:xfrm>
            <a:off x="3154680" y="2820924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6" name="Badge 1"/>
          <p:cNvSpPr/>
          <p:nvPr/>
        </p:nvSpPr>
        <p:spPr>
          <a:xfrm>
            <a:off x="3154680" y="2820924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38" name="Desc 1"/>
          <p:cNvSpPr/>
          <p:nvPr/>
        </p:nvSpPr>
        <p:spPr>
          <a:xfrm>
            <a:off x="5074920" y="2606040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folders — Claude reads the name + description, and loads one when the task matches.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31012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2" name="Tab 2"/>
          <p:cNvSpPr/>
          <p:nvPr/>
        </p:nvSpPr>
        <p:spPr>
          <a:xfrm>
            <a:off x="749808" y="3483864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4" name="Name 2"/>
          <p:cNvSpPr/>
          <p:nvPr/>
        </p:nvSpPr>
        <p:spPr>
          <a:xfrm>
            <a:off x="960120" y="3310128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</a:p>
        </p:txBody>
      </p:sp>
      <p:sp>
        <p:nvSpPr>
          <p:cNvPr id="46" name="Pill 2"/>
          <p:cNvSpPr/>
          <p:nvPr/>
        </p:nvSpPr>
        <p:spPr>
          <a:xfrm>
            <a:off x="3154680" y="3525012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Badge 2"/>
          <p:cNvSpPr/>
          <p:nvPr/>
        </p:nvSpPr>
        <p:spPr>
          <a:xfrm>
            <a:off x="3154680" y="3525012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50" name="Desc 2"/>
          <p:cNvSpPr/>
          <p:nvPr/>
        </p:nvSpPr>
        <p:spPr>
          <a:xfrm>
            <a:off x="5074920" y="3310128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MCP tools — invoked by Claude during the agentic loop whenever the job needs them.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01421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54" name="Tab 3"/>
          <p:cNvSpPr/>
          <p:nvPr/>
        </p:nvSpPr>
        <p:spPr>
          <a:xfrm>
            <a:off x="749808" y="4187952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56" name="Name 3"/>
          <p:cNvSpPr/>
          <p:nvPr/>
        </p:nvSpPr>
        <p:spPr>
          <a:xfrm>
            <a:off x="960120" y="401421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</a:p>
        </p:txBody>
      </p:sp>
      <p:sp>
        <p:nvSpPr>
          <p:cNvPr id="58" name="Pill 3"/>
          <p:cNvSpPr/>
          <p:nvPr/>
        </p:nvSpPr>
        <p:spPr>
          <a:xfrm>
            <a:off x="3154680" y="4229100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0" name="Badge 3"/>
          <p:cNvSpPr/>
          <p:nvPr/>
        </p:nvSpPr>
        <p:spPr>
          <a:xfrm>
            <a:off x="3154680" y="4229100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</a:p>
        </p:txBody>
      </p:sp>
      <p:sp>
        <p:nvSpPr>
          <p:cNvPr id="62" name="Desc 3"/>
          <p:cNvSpPr/>
          <p:nvPr/>
        </p:nvSpPr>
        <p:spPr>
          <a:xfrm>
            <a:off x="5074920" y="4014216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prompts in .claude/commands/ — they run only when you type /&lt;name&gt; yourself.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471830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6" name="Tab 4"/>
          <p:cNvSpPr/>
          <p:nvPr/>
        </p:nvSpPr>
        <p:spPr>
          <a:xfrm>
            <a:off x="749808" y="48920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8" name="Name 4"/>
          <p:cNvSpPr/>
          <p:nvPr/>
        </p:nvSpPr>
        <p:spPr>
          <a:xfrm>
            <a:off x="960120" y="4718304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70" name="Pill 4"/>
          <p:cNvSpPr/>
          <p:nvPr/>
        </p:nvSpPr>
        <p:spPr>
          <a:xfrm>
            <a:off x="3154680" y="4933188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72" name="Badge 4"/>
          <p:cNvSpPr/>
          <p:nvPr/>
        </p:nvSpPr>
        <p:spPr>
          <a:xfrm>
            <a:off x="3154680" y="4933188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EVENT</a:t>
            </a:r>
          </a:p>
        </p:txBody>
      </p:sp>
      <p:sp>
        <p:nvSpPr>
          <p:cNvPr id="74" name="Desc 4"/>
          <p:cNvSpPr/>
          <p:nvPr/>
        </p:nvSpPr>
        <p:spPr>
          <a:xfrm>
            <a:off x="5074920" y="4718304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in settings.json — fired deterministically by a lifecycle event, not by the model.</a:t>
            </a:r>
          </a:p>
        </p:txBody>
      </p:sp>
      <p:sp>
        <p:nvSpPr>
          <p:cNvPr id="76" name="Card 5"/>
          <p:cNvSpPr/>
          <p:nvPr/>
        </p:nvSpPr>
        <p:spPr>
          <a:xfrm>
            <a:off x="548640" y="542239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78" name="Tab 5"/>
          <p:cNvSpPr/>
          <p:nvPr/>
        </p:nvSpPr>
        <p:spPr>
          <a:xfrm>
            <a:off x="749808" y="559612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80" name="Name 5"/>
          <p:cNvSpPr/>
          <p:nvPr/>
        </p:nvSpPr>
        <p:spPr>
          <a:xfrm>
            <a:off x="960120" y="542239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</a:p>
        </p:txBody>
      </p:sp>
      <p:sp>
        <p:nvSpPr>
          <p:cNvPr id="82" name="Pill 5"/>
          <p:cNvSpPr/>
          <p:nvPr/>
        </p:nvSpPr>
        <p:spPr>
          <a:xfrm>
            <a:off x="3154680" y="563727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84" name="Badge 5"/>
          <p:cNvSpPr/>
          <p:nvPr/>
        </p:nvSpPr>
        <p:spPr>
          <a:xfrm>
            <a:off x="3154680" y="563727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DELEGATION</a:t>
            </a:r>
          </a:p>
        </p:txBody>
      </p:sp>
      <p:sp>
        <p:nvSpPr>
          <p:cNvPr id="86" name="Desc 5"/>
          <p:cNvSpPr/>
          <p:nvPr/>
        </p:nvSpPr>
        <p:spPr>
          <a:xfrm>
            <a:off x="5074920" y="542239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assistants with their own context — spawned when the main agent delegates a job.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context is expensive — keep CLAUDE.md tight and push specialised, occasional procedures into skills, commands and sub agents.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 · PRACTICE EXAM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Exam Portal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practising after class — Tertiary Exams offers realistic practice exams across AWS, Microsoft, Cisco, CompTIA, Google Cloud and more. Try 10 questions free on any exam.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/>
          <p:nvPr/>
        </p:nvSpPr>
        <p:spPr>
          <a:xfrm>
            <a:off x="1280160" y="2606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exams.tertiaryinfotech.com and search for your certification.</a:t>
            </a:r>
          </a:p>
        </p:txBody>
      </p:sp>
      <p:sp>
        <p:nvSpPr>
          <p:cNvPr id="9" name="Shape 9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10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" name="Text 11"/>
          <p:cNvSpPr/>
          <p:nvPr/>
        </p:nvSpPr>
        <p:spPr>
          <a:xfrm>
            <a:off x="128016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10 free questions on any exam, in Practice Mode or Exam Mode.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4" name="Text 14"/>
          <p:cNvSpPr/>
          <p:nvPr/>
        </p:nvSpPr>
        <p:spPr>
          <a:xfrm>
            <a:off x="128016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answers and explanations, then repeat until you are ready.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" y="4937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21201C"/>
          </a:solidFill>
          <a:ln/>
        </p:spPr>
      </p:sp>
      <p:sp>
        <p:nvSpPr>
          <p:cNvPr id="16" name="Text 16"/>
          <p:cNvSpPr/>
          <p:nvPr/>
        </p:nvSpPr>
        <p:spPr>
          <a:xfrm>
            <a:off x="914400" y="4937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https://exams.tertiaryinfotech.com/</a:t>
            </a:r>
          </a:p>
        </p:txBody>
      </p:sp>
      <p:pic>
        <p:nvPicPr>
          <p:cNvPr id="95" name="Tertiary Exams" descr="exams.tertiaryinfotech.com home 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331720"/>
            <a:ext cx="4937760" cy="1750219"/>
          </a:xfrm>
          <a:prstGeom prst="roundRect">
            <a:avLst>
              <a:gd name="adj" fmla="val 2500"/>
            </a:avLst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7" name="Text 17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exams are the fastest way to find the gaps before the real certification.</a:t>
            </a:r>
          </a:p>
        </p:txBody>
      </p:sp>
      <p:sp>
        <p:nvSpPr>
          <p:cNvPr id="18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9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20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HANDS-ON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Materials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each in its own folder. They build on one another — Lab 1 creates the website that every later lab extends.</a:t>
            </a:r>
          </a:p>
        </p:txBody>
      </p:sp>
      <p:sp>
        <p:nvSpPr>
          <p:cNvPr id="16" name="Card0"/>
          <p:cNvSpPr/>
          <p:nvPr/>
        </p:nvSpPr>
        <p:spPr>
          <a:xfrm>
            <a:off x="548640" y="1965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0"/>
          <p:cNvSpPr/>
          <p:nvPr/>
        </p:nvSpPr>
        <p:spPr>
          <a:xfrm>
            <a:off x="749808" y="2167128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Lab0"/>
          <p:cNvSpPr/>
          <p:nvPr/>
        </p:nvSpPr>
        <p:spPr>
          <a:xfrm>
            <a:off x="9601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</a:p>
        </p:txBody>
      </p:sp>
      <p:sp>
        <p:nvSpPr>
          <p:cNvPr id="22" name="Pill0"/>
          <p:cNvSpPr/>
          <p:nvPr/>
        </p:nvSpPr>
        <p:spPr>
          <a:xfrm>
            <a:off x="960120" y="2478024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Topic0"/>
          <p:cNvSpPr/>
          <p:nvPr/>
        </p:nvSpPr>
        <p:spPr>
          <a:xfrm>
            <a:off x="960120" y="2478024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</a:p>
        </p:txBody>
      </p:sp>
      <p:sp>
        <p:nvSpPr>
          <p:cNvPr id="26" name="Desc0"/>
          <p:cNvSpPr/>
          <p:nvPr/>
        </p:nvSpPr>
        <p:spPr>
          <a:xfrm>
            <a:off x="2331720" y="205740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build workflow — goal, plan, execute, /init, GitHub, Pages, CI/CD.</a:t>
            </a:r>
          </a:p>
        </p:txBody>
      </p:sp>
      <p:sp>
        <p:nvSpPr>
          <p:cNvPr id="28" name="Fold0"/>
          <p:cNvSpPr/>
          <p:nvPr/>
        </p:nvSpPr>
        <p:spPr>
          <a:xfrm>
            <a:off x="2331720" y="245973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labs/lab1-seven-steps/</a:t>
            </a:r>
          </a:p>
        </p:txBody>
      </p:sp>
      <p:sp>
        <p:nvSpPr>
          <p:cNvPr id="30" name="Card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2" name="Tab1"/>
          <p:cNvSpPr/>
          <p:nvPr/>
        </p:nvSpPr>
        <p:spPr>
          <a:xfrm>
            <a:off x="749808" y="3182112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4" name="Lab1"/>
          <p:cNvSpPr/>
          <p:nvPr/>
        </p:nvSpPr>
        <p:spPr>
          <a:xfrm>
            <a:off x="960120" y="3090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1b</a:t>
            </a:r>
          </a:p>
        </p:txBody>
      </p:sp>
      <p:sp>
        <p:nvSpPr>
          <p:cNvPr id="36" name="Pill1"/>
          <p:cNvSpPr/>
          <p:nvPr/>
        </p:nvSpPr>
        <p:spPr>
          <a:xfrm>
            <a:off x="960120" y="3493008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8" name="Topic1"/>
          <p:cNvSpPr/>
          <p:nvPr/>
        </p:nvSpPr>
        <p:spPr>
          <a:xfrm>
            <a:off x="960120" y="3493008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</a:p>
        </p:txBody>
      </p:sp>
      <p:sp>
        <p:nvSpPr>
          <p:cNvPr id="40" name="Desc1"/>
          <p:cNvSpPr/>
          <p:nvPr/>
        </p:nvSpPr>
        <p:spPr>
          <a:xfrm>
            <a:off x="2331720" y="3072384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/publish custom command + Playwright MCP screenshots into the README.</a:t>
            </a:r>
          </a:p>
        </p:txBody>
      </p:sp>
      <p:sp>
        <p:nvSpPr>
          <p:cNvPr id="42" name="Fold1"/>
          <p:cNvSpPr/>
          <p:nvPr/>
        </p:nvSpPr>
        <p:spPr>
          <a:xfrm>
            <a:off x="2331720" y="347472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labs/lab1b-commands-mcp/</a:t>
            </a:r>
          </a:p>
        </p:txBody>
      </p:sp>
      <p:sp>
        <p:nvSpPr>
          <p:cNvPr id="44" name="Card2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6" name="Tab2"/>
          <p:cNvSpPr/>
          <p:nvPr/>
        </p:nvSpPr>
        <p:spPr>
          <a:xfrm>
            <a:off x="749808" y="4197096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Lab2"/>
          <p:cNvSpPr/>
          <p:nvPr/>
        </p:nvSpPr>
        <p:spPr>
          <a:xfrm>
            <a:off x="96012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</a:p>
        </p:txBody>
      </p:sp>
      <p:sp>
        <p:nvSpPr>
          <p:cNvPr id="50" name="Pill2"/>
          <p:cNvSpPr/>
          <p:nvPr/>
        </p:nvSpPr>
        <p:spPr>
          <a:xfrm>
            <a:off x="960120" y="4507992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52" name="Topic2"/>
          <p:cNvSpPr/>
          <p:nvPr/>
        </p:nvSpPr>
        <p:spPr>
          <a:xfrm>
            <a:off x="960120" y="4507992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54" name="Desc2"/>
          <p:cNvSpPr/>
          <p:nvPr/>
        </p:nvSpPr>
        <p:spPr>
          <a:xfrm>
            <a:off x="2331720" y="408736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 skills — cybersecurity, kanban, UI/UX — and revamp the site.</a:t>
            </a:r>
          </a:p>
        </p:txBody>
      </p:sp>
      <p:sp>
        <p:nvSpPr>
          <p:cNvPr id="56" name="Fold2"/>
          <p:cNvSpPr/>
          <p:nvPr/>
        </p:nvSpPr>
        <p:spPr>
          <a:xfrm>
            <a:off x="2331720" y="4489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labs/lab2-skills/</a:t>
            </a:r>
          </a:p>
        </p:txBody>
      </p:sp>
      <p:sp>
        <p:nvSpPr>
          <p:cNvPr id="58" name="Card3"/>
          <p:cNvSpPr/>
          <p:nvPr/>
        </p:nvSpPr>
        <p:spPr>
          <a:xfrm>
            <a:off x="548640" y="501091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0" name="Tab3"/>
          <p:cNvSpPr/>
          <p:nvPr/>
        </p:nvSpPr>
        <p:spPr>
          <a:xfrm>
            <a:off x="749808" y="5212080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2" name="Lab3"/>
          <p:cNvSpPr/>
          <p:nvPr/>
        </p:nvSpPr>
        <p:spPr>
          <a:xfrm>
            <a:off x="960120" y="5120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</a:p>
        </p:txBody>
      </p:sp>
      <p:sp>
        <p:nvSpPr>
          <p:cNvPr id="64" name="Pill3"/>
          <p:cNvSpPr/>
          <p:nvPr/>
        </p:nvSpPr>
        <p:spPr>
          <a:xfrm>
            <a:off x="960120" y="5522976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6" name="Topic3"/>
          <p:cNvSpPr/>
          <p:nvPr/>
        </p:nvSpPr>
        <p:spPr>
          <a:xfrm>
            <a:off x="960120" y="552297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68" name="Desc3"/>
          <p:cNvSpPr/>
          <p:nvPr/>
        </p:nvSpPr>
        <p:spPr>
          <a:xfrm>
            <a:off x="2331720" y="5102352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 agents and /loop — the event, delegation and schedule triggers.</a:t>
            </a:r>
          </a:p>
        </p:txBody>
      </p:sp>
      <p:sp>
        <p:nvSpPr>
          <p:cNvPr id="70" name="Fold3"/>
          <p:cNvSpPr/>
          <p:nvPr/>
        </p:nvSpPr>
        <p:spPr>
          <a:xfrm>
            <a:off x="2331720" y="550468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labs/lab3-hooks/</a:t>
            </a:r>
          </a:p>
        </p:txBody>
      </p:sp>
      <p:sp>
        <p:nvSpPr>
          <p:cNvPr id="72" name="Tip"/>
          <p:cNvSpPr/>
          <p:nvPr/>
        </p:nvSpPr>
        <p:spPr>
          <a:xfrm>
            <a:off x="548640" y="6117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gives you the exact prompt to paste, what you should see, and a checkpoint before moving on.</a:t>
            </a:r>
          </a:p>
        </p:txBody>
      </p:sp>
      <p:sp>
        <p:nvSpPr>
          <p:cNvPr id="74" name="F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76" name="F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78" name="F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